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Building the map, validating it, and characterising SSc endotypes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Construction  ·  validation (gates + patient data)  ·  endotype use case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CONTEXT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map in one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3716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3716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SSc-specific reactions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3716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545336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patient donors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142C3A"/>
                </a:solidFill>
                <a:latin typeface="Calibri"/>
              </a:rPr>
              <a:t>A curated, SBGN/SBML disease map for dcSSc skin fibrosis.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Five modules — M1 IFN · M2 TGF-β/fibrosis · M3 EndoMT · M4 cytokines · M5 B-cell/autoreactivity — draining into 6 phenotype endpoints.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Topology is literature-curated; patient single-cell data is layered on to validate it and read it out.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142C3A"/>
                </a:solidFill>
                <a:latin typeface="Calibri"/>
              </a:rPr>
              <a:t>This talk: how it is built, how it is validated (two ways), and how it can characterise patient endotypes.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73B8"/>
                </a:solidFill>
                <a:latin typeface="Calibri"/>
              </a:rPr>
              <a:t>PART 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Literature-curated topology, assembled and annotated — not inferred from omics.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an integrated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39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554480"/>
            <a:ext cx="1463040" cy="105156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554480"/>
            <a:ext cx="1463040" cy="105156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49840" y="1554480"/>
            <a:ext cx="1463040" cy="105156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QC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718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(blue)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Canonical pathways imported from Reactome (IFN-I, TGF-β/PDGF, NOTCH1, IL-6), harmonised to HGNC, de-duplicated, merged into one SBML map.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SSc-specific layer (coral)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133 hand-curated reactions Reactome cannot hold (autoantibodies, SSc cell states, crosstalk) — added only through gated discovery (Part II).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971800"/>
            <a:ext cx="525780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2971800"/>
            <a:ext cx="525780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154680"/>
            <a:ext cx="4754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IFN 19  M2 fibrosis 58  M3 EndoMT 27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M4 cytokine 11  M5 B-cell 10  xt 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6 endpoints: myofibroblast · ECM · vascular · IFN/ISG · autoantibodies (autoreactivity) · mRSS.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Rule: every entity reaches an endpoint in ≤6 steps (0 violations).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PART II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Validating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Two complementary axes: (A) gated against fabrication, (B) grounded in real patient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Two complementary axes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40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40680" cy="4572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 · Is every edge real?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Edge-discovery protocol: nothing enters the curated map speculatively.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Five automated gates (G0–G4), G2 = verbatim-quote grounding.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Contradiction detector + advisory AI verdicts + citation-integrity sweep.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Binding human ratification by the expert/co-author.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440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5440680" cy="4572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 · Does it hold in patients?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Four single-cell datasets (197 donors) re-analysed from raw counts.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Per-donor pseudobulk → mixed-effects DEG → map coverage.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AUCell → per-patient module activation profile.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Result: 81.3% coverage; type-I IFN validated in SSc skin.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· A (1/2)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Gate strategy —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3794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Stage — </a:t>
            </a:r>
            <a:r>
              <a:rPr sz="1400">
                <a:solidFill>
                  <a:srgbClr val="223038"/>
                </a:solidFill>
              </a:rPr>
              <a:t>candidate edge in a staging file — with a verbatim sentence from the source 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331720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69747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6090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Fetch — </a:t>
            </a:r>
            <a:r>
              <a:rPr sz="1400">
                <a:solidFill>
                  <a:srgbClr val="223038"/>
                </a:solidFill>
              </a:rPr>
              <a:t>cache the source text (Europe PMC OA / abstract)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54679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2043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8386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Gate — </a:t>
            </a:r>
            <a:r>
              <a:rPr sz="1400">
                <a:solidFill>
                  <a:srgbClr val="223038"/>
                </a:solidFill>
              </a:rPr>
              <a:t>run the five G0–G4 gates → PASS / FLAG / REJECT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3977639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0682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Ratify — </a:t>
            </a:r>
            <a:r>
              <a:rPr sz="1400">
                <a:solidFill>
                  <a:srgbClr val="223038"/>
                </a:solidFill>
              </a:rPr>
              <a:t>a human sets decision = promote (default = held)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00600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2978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Promote — </a:t>
            </a:r>
            <a:r>
              <a:rPr sz="1400">
                <a:solidFill>
                  <a:srgbClr val="223038"/>
                </a:solidFill>
              </a:rPr>
              <a:t>only PASS + promote enter the map — tagged, 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· A (2/2)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five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If the quote is not literally in the paper, the edge is rejected.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Self-test: a fabricated negative-control edge (FOXP3→COL1A1, invented quote + decoy PMID) must REJECT on every run.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Then: contradiction detector · AI verdicts (128 validate / 5 caution) · citation sweep (28 wrong PMIDs fixed, re-verified vs PubMed) · human ratification.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(1/4)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Grounding in patient data — the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across skin, lung and blood — re-analysed from raw GEO files; citations verified on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920240"/>
                <a:gridCol w="182880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100 538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64 211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67 516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34 619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give the fibroblast-subset resolution that M2/M3 model; lung (SSc-ILD) + PBMC extend beyond skin.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archives SHA-256-pinned in data/MIRROR.md for a reproducible input envelope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(2/4)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Per-donor pseudobulk — the right unit of replication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Tens of thousands of cells, but only 4–13 patients per dataset. The question is about patients, not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problem: pseudoreplication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Cells from one patient are not independent (same genotype, biopsy, batch).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Testing per-cell treats them as thousands of samples → inflated power, false positives.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Rebuild one bulk-like profile per patient → the unit of replication becomes the patient.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069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group cells by (donor × cell_type)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row[gene] = Σ raw counts over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→ one pseudobulk count row per (donor, cell type).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NB GLM (pydeseq2) ~ condition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+ Benjamini-Hochberg FDR (q=0.05)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counts (not log) — the NB GLM models depth &amp; overdispersion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Trade-off: fewer but robust hits; a valid, reproducible inference. The same pseudobulks feed AUCell.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(3/4)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AUCell — label-free module activation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“Are a module’s genes concentrated among this patient’s most highly-expressed genes?”  If yes → the module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Why — no double-dipping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Scores each donor against the pre-specified module gene set (from the curated map), blind to the SSc/HC label.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Avoids the circularity of weighting by the same SSc-vs-HC contrast you then test.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Rank-based → robust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Depends only on gene order, not absolute values → insensitive to scale, depth, normalisation.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069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Rank all genes by expression (rank 1 = highest).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Walk the top T (top ~5%); recovery curve R(r) = # module genes with rank ≤ 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AUC = Σ R(r),  normalised to [0,1]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High AUC → module genes cluster at the top → module active.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Output: a 4-module activation vector per patient.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This per-patient vector is exactly what powers the endotype use case (Part III).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(4/4)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the data shows</a:t>
            </a:r>
          </a:p>
        </p:txBody>
      </p:sp>
      <p:pic>
        <p:nvPicPr>
          <p:cNvPr id="6" name="Picture 5" descr="F2_multi_overlay_au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303520" cy="25627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463040"/>
            <a:ext cx="27432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591056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Coverage by module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74% · M5 94% — the curated biology is largely measurable.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Biological validation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Type-I IFN (M1) significantly elevated in SSc skin: Gur p=3.2e-4, Tabib p=0.011.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Annotation validated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CellTypist agreement κ=0.92, ARI=0.70 vs marker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Per-donor AUCell module scores, SSc vs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MODULE M5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Validating a new module: B-cell / autoreactivity</a:t>
            </a:r>
          </a:p>
        </p:txBody>
      </p:sp>
      <p:pic>
        <p:nvPicPr>
          <p:cNvPr id="6" name="Picture 5" descr="F7_M5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498079" cy="2598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1417320"/>
            <a:ext cx="3611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The old M4 mixed cytokines with B-cell/autoreactivity → split into M4 (cytokine) + M5 (B-cell).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Internal (skin scRNA-seq)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Scored on the B/plasma compartment: M5 up in SSc (p=0.046), the only significant module → specific.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External (GSE45536, blood)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99 SSc / 24 HC: M5 separates groups (p=1.3e-4); autoantigens TOP1/CENPB ↑ (p=1.7e-10); circulating B abundance ↓.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IFN control ↑ in SSc in both — method validated.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PART III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Toward endotypes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Using the validated map to characterise patient subgroups — mechanistically.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Patients already differ in module activation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Each patient = a 4-module activation vector (Part II-B).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IFN activation is not uniform: 40/109 SSc skin donors are IFN-high, others are not (reproducible Gur + Tabib).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Distinct module profiles → candidate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USE CASE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You arrive with 3 patient clusters — what the map gives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23038"/>
                </a:solidFill>
                <a:latin typeface="Calibri"/>
              </a:rPr>
              <a:t>Project any patient grouping onto the map — same pipeline (AUCell + per-cluster DEG + MINERVA overlay),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5 modules (M1–M5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7091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7091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7091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 one line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curated map, gated against fabrication, validated in patients — and ready to type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Construction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Literature backbone + 133 gated SSc-specific reactions → one SBML map (568 sp / 308 rx).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Validation A — gates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G0–G4 + G2 grounding + human ratification: no edge without a verbatim source.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Validation B — data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4 datasets, 197 donors; per-donor pseudobulk + AUCell; 81.3% coverage; IFN validated in SSc skin.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Endotypes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Project your patient clusters → per-cluster module fingerprint, mechanistic hypotheses, candidate targets.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