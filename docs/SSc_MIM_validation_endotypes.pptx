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SSc-MIM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2200" b="0" i="0">
                <a:solidFill>
                  <a:srgbClr val="CFDEE2"/>
                </a:solidFill>
                <a:latin typeface="Calibri"/>
              </a:rPr>
              <a:t>Building the map, validating it, and characterising SSc endotypes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26D5A"/>
                </a:solidFill>
                <a:latin typeface="Calibri"/>
              </a:rPr>
              <a:t>Construction  ·  validation (gates + patient data)  ·  endotype use case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Nathan Foulquier — LBAI, UMR 1227 Inserm · CHU de Brest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8B9E"/>
                </a:solidFill>
                <a:latin typeface="Calibri"/>
              </a:rPr>
              <a:t>CONTEXT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map in one 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697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91440" cy="13716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45336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42C3A"/>
                </a:solidFill>
                <a:latin typeface="Consolas"/>
              </a:rPr>
              <a:t>568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molecular species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2697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91440" cy="1371600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545336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E8B9E"/>
                </a:solidFill>
                <a:latin typeface="Consolas"/>
              </a:rPr>
              <a:t>308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mechanistic reactions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26974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91440" cy="137160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545336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26D5A"/>
                </a:solidFill>
                <a:latin typeface="Consolas"/>
              </a:rPr>
              <a:t>133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SSc-specific reactions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41732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417320"/>
            <a:ext cx="91440" cy="1371600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1545336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7E5A9E"/>
                </a:solidFill>
                <a:latin typeface="Consolas"/>
              </a:rPr>
              <a:t>197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patient donors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142C3A"/>
                </a:solidFill>
                <a:latin typeface="Calibri"/>
              </a:rPr>
              <a:t>A curated, SBGN/SBML disease map for dcSSc skin fibrosis.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23038"/>
                </a:solidFill>
                <a:latin typeface="Calibri"/>
              </a:rPr>
              <a:t>Four modules — M1 type-I IFN · M2 TGF-β/fibrosis · M3 EndoMT/vasculopathy · M4 IL-6/Th2/B — draining into 4 phenotype sinks.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223038"/>
                </a:solidFill>
                <a:latin typeface="Calibri"/>
              </a:rPr>
              <a:t>Topology is literature-curated; patient single-cell data is layered on to validate it and read it out.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142C3A"/>
                </a:solidFill>
                <a:latin typeface="Calibri"/>
              </a:rPr>
              <a:t>This talk: how it is built, how it is validated (two ways), and how it can characterise patient endotypes.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12191695" cy="64008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A73B8"/>
                </a:solidFill>
                <a:latin typeface="Calibri"/>
              </a:rPr>
              <a:t>PART I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Building 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FDEE2"/>
                </a:solidFill>
                <a:latin typeface="Calibri"/>
              </a:rPr>
              <a:t>Literature-curated topology, assembled and annotated — not inferred from omics.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A73B8"/>
                </a:solidFill>
                <a:latin typeface="Calibri"/>
              </a:rPr>
              <a:t>CONSTRUCTION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From literature to an integrated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463040" cy="1051560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847088"/>
            <a:ext cx="228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39" y="1554480"/>
            <a:ext cx="1463040" cy="1051560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Reactome</a:t>
            </a:r>
            <a:br/>
            <a:r>
              <a:t>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47088"/>
            <a:ext cx="228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554480"/>
            <a:ext cx="1463040" cy="1051560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Harmonise</a:t>
            </a:r>
            <a:br/>
            <a:r>
              <a:t>&amp; dedup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59" y="1847088"/>
            <a:ext cx="228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554480"/>
            <a:ext cx="1463040" cy="1051560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Integrate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847088"/>
            <a:ext cx="228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554480"/>
            <a:ext cx="1463040" cy="1051560"/>
          </a:xfrm>
          <a:prstGeom prst="round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SSc curation</a:t>
            </a:r>
            <a:br/>
            <a:r>
              <a:t>(gated)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1847088"/>
            <a:ext cx="228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554480"/>
            <a:ext cx="1463040" cy="1051560"/>
          </a:xfrm>
          <a:prstGeom prst="round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Annotate</a:t>
            </a:r>
            <a:br/>
            <a:r>
              <a:t>PMID/ECO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9" y="1847088"/>
            <a:ext cx="2285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B7A82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0" y="1554480"/>
            <a:ext cx="1463040" cy="1051560"/>
          </a:xfrm>
          <a:prstGeom prst="round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QC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7180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Backbone (blue)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Canonical pathways imported from Reactome (IFN-I, TGF-β/PDGF, NOTCH1, IL-6), harmonised to HGNC, de-duplicated, merged into one SBML map.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SSc-specific layer (coral)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133 hand-curated reactions Reactome cannot hold (autoantibodies, SSc cell states, crosstalk) — added only through gated discovery (Part II).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971800"/>
            <a:ext cx="525780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971800"/>
            <a:ext cx="5257800" cy="82296"/>
          </a:xfrm>
          <a:prstGeom prst="rect">
            <a:avLst/>
          </a:prstGeom>
          <a:solidFill>
            <a:srgbClr val="2E8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154680"/>
            <a:ext cx="47548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M1 IFN 19   M2 fibrosis 58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M3 EndoMT 27   M4 immune 21   xt 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4 phenotype sinks: myofibroblast · ECM · vascular remodelling · ISG signature.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Rule: every entity reaches a sink in ≤6 steps (0 violations).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12191695" cy="64008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26D5A"/>
                </a:solidFill>
                <a:latin typeface="Calibri"/>
              </a:rPr>
              <a:t>PART II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Validating 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FDEE2"/>
                </a:solidFill>
                <a:latin typeface="Calibri"/>
              </a:rPr>
              <a:t>Two complementary axes: (A) gated against fabrication, (B) grounded in real patient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VALIDATION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Two complementary axes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4068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40680" cy="45720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 · Is every edge real?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Edge-discovery protocol: nothing enters the curated map speculatively.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Five automated gates (G0–G4), G2 = verbatim-quote grounding.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Contradiction detector + advisory AI verdicts + citation-integrity sweep.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Binding human ratification by the expert/co-author.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44068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440680" cy="457200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 · Does it hold in patients?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Four single-cell datasets (197 donors) re-analysed from raw counts.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Per-donor pseudobulk → mixed-effects DEG → map coverage.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AUCell → per-patient module activation profile.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Result: 81.3% coverage; type-I IFN validated in SSc skin.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VALIDATION · A (1/2)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Gate strategy — the edge-discovery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1">
                <a:solidFill>
                  <a:srgbClr val="E26D5A"/>
                </a:solidFill>
                <a:latin typeface="Calibri"/>
              </a:rPr>
              <a:t>Governing rule: the curated map is never written speculatively.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874519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37943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Stage — </a:t>
            </a:r>
            <a:r>
              <a:rPr sz="1400">
                <a:solidFill>
                  <a:srgbClr val="223038"/>
                </a:solidFill>
              </a:rPr>
              <a:t>candidate edge in a staging file — with a verbatim sentence from the source paper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" y="2331720"/>
            <a:ext cx="27432" cy="36576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697479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60903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Fetch — </a:t>
            </a:r>
            <a:r>
              <a:rPr sz="1400">
                <a:solidFill>
                  <a:srgbClr val="223038"/>
                </a:solidFill>
              </a:rPr>
              <a:t>cache the source text (Europe PMC OA / abstract)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" y="3154679"/>
            <a:ext cx="27432" cy="36576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520439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83863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Gate — </a:t>
            </a:r>
            <a:r>
              <a:rPr sz="1400">
                <a:solidFill>
                  <a:srgbClr val="223038"/>
                </a:solidFill>
              </a:rPr>
              <a:t>run the five G0–G4 gates → PASS / FLAG / REJECT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" y="3977639"/>
            <a:ext cx="27432" cy="36576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06824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Ratify — </a:t>
            </a:r>
            <a:r>
              <a:rPr sz="1400">
                <a:solidFill>
                  <a:srgbClr val="223038"/>
                </a:solidFill>
              </a:rPr>
              <a:t>a human sets decision = promote (default = held)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800600"/>
            <a:ext cx="27432" cy="365760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29784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Promote — </a:t>
            </a:r>
            <a:r>
              <a:rPr sz="1400">
                <a:solidFill>
                  <a:srgbClr val="223038"/>
                </a:solidFill>
              </a:rPr>
              <a:t>only PASS + promote enter the map — tagged, reversible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VALIDATION · A (2/2)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The five gates (G0–G4)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76656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On failure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G0  schema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required fields present; type in controlled vocabulary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G1  HGNC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every gene entity is an official HGNC symbol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REJECT (alias→FLAG)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G2  grounding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supporting quote is a verbatim substring of the source text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REJECT — keystone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G3  novelty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gene pair not already an SSc reaction; not a forward Reactome pair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REJECT (dup) / FLAG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26D5A"/>
                          </a:solidFill>
                          <a:latin typeface="Calibri"/>
                        </a:rPr>
                        <a:t>G4  evidence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numeric PMID present; corpus text available (SSc context)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3038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1C3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DDE7EA"/>
                </a:solidFill>
                <a:latin typeface="Calibri"/>
              </a:rPr>
              <a:t>If the quote is not literally in the paper, the edge is rejected.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DDE7EA"/>
                </a:solidFill>
                <a:latin typeface="Calibri"/>
              </a:rPr>
              <a:t>Self-test: a fabricated negative-control edge (FOXP3→COL1A1, invented quote + decoy PMID) must REJECT on every run.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DDE7EA"/>
                </a:solidFill>
                <a:latin typeface="Calibri"/>
              </a:rPr>
              <a:t>Then: contradiction detector · AI verdicts (128 validate / 5 caution) · citation sweep (28 wrong PMIDs fixed, re-verified vs PubMed) · human ratification.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VALIDATION · B (1/4)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Grounding in patient data — the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23038"/>
                </a:solidFill>
                <a:latin typeface="Calibri"/>
              </a:rPr>
              <a:t>197 donors (121 SSc / 76 HC) across skin, lung and blood — re-analysed from raw GEO files; citations verified on PubMed.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297680"/>
                <a:gridCol w="1920240"/>
                <a:gridCol w="1828800"/>
                <a:gridCol w="1463040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Reference (verified)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Tissue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Donors (SSc/HC)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Cells</a:t>
                      </a:r>
                    </a:p>
                  </a:txBody>
                  <a:tcPr marL="91440" marT="27432" marB="27432">
                    <a:solidFill>
                      <a:srgbClr val="142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7E5A9E"/>
                          </a:solidFill>
                          <a:latin typeface="Calibri"/>
                        </a:rPr>
                        <a:t>GSE195452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Gur C et al. Cell 2022;185:1373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Skin (multiome)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154  (97 / 57)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100 538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7E5A9E"/>
                          </a:solidFill>
                          <a:latin typeface="Calibri"/>
                        </a:rPr>
                        <a:t>GSE138669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Tabib T et al. Nat Commun 2021;12:4384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Skin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22  (12 / 10)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64 211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7E5A9E"/>
                          </a:solidFill>
                          <a:latin typeface="Calibri"/>
                        </a:rPr>
                        <a:t>GSE128169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Morse C et al. Eur Respir J 2019;54:1802441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Lung (ILD)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13  (8 / 5)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67 516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7E5A9E"/>
                          </a:solidFill>
                          <a:latin typeface="Calibri"/>
                        </a:rPr>
                        <a:t>GSE210395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GEO — no linked publication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alibri"/>
                        </a:rPr>
                        <a:t>PBMC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8  (4 / 4)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3038"/>
                          </a:solidFill>
                          <a:latin typeface="Consolas"/>
                        </a:rPr>
                        <a:t>34 619</a:t>
                      </a:r>
                    </a:p>
                  </a:txBody>
                  <a:tcPr marL="91440" marT="27432" marB="27432">
                    <a:solidFill>
                      <a:srgbClr val="ECEAE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Skin cohorts give the fibroblast-subset resolution that M2/M3 model; lung (SSc-ILD) + PBMC extend beyond skin.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Raw archives SHA-256-pinned in data/MIRROR.md for a reproducible input envelope (Zenodo mirror).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VALIDATION · B (2/4)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Per-donor pseudobulk — the right unit of replication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223038"/>
                </a:solidFill>
                <a:latin typeface="Calibri"/>
              </a:rPr>
              <a:t>Tens of thousands of cells, but only 4–13 patients per dataset. The question is about patients, not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The problem: pseudoreplication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Cells from one patient are not independent (same genotype, biopsy, batch).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Testing per-cell treats them as thousands of samples → inflated power, false positives.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The fix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Rebuild one bulk-like profile per patient → the unit of replication becomes the patient.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554480"/>
            <a:ext cx="5257800" cy="4069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554480"/>
            <a:ext cx="5257800" cy="82296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55648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group cells by (donor × cell_type)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row[gene] = Σ raw counts over cells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→ one pseudobulk count row per (donor, cell type).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NB GLM (pydeseq2) ~ condition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+ Benjamini-Hochberg FDR (q=0.05)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Raw counts (not log) — the NB GLM models depth &amp; overdispersion itself.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Trade-off: fewer but robust hits; a valid, reproducible inference. The same pseudobulks feed AUCell.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VALIDATION · B (3/4)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AUCell — label-free module activation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223038"/>
                </a:solidFill>
                <a:latin typeface="Calibri"/>
              </a:rPr>
              <a:t>“Are a module’s genes concentrated among this patient’s most highly-expressed genes?”  If yes → the module is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Why — no double-dipping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Scores each donor against the pre-specified module gene set (from the curated map), blind to the SSc/HC label.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Avoids the circularity of weighting by the same SSc-vs-HC contrast you then test.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2C3A"/>
                </a:solidFill>
                <a:latin typeface="Calibri"/>
              </a:rPr>
              <a:t>Rank-based → robust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23038"/>
                </a:solidFill>
                <a:latin typeface="Calibri"/>
              </a:rPr>
              <a:t>Depends only on gene order, not absolute values → insensitive to scale, depth, normalisation.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554480"/>
            <a:ext cx="5257800" cy="4069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554480"/>
            <a:ext cx="5257800" cy="82296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55648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Rank all genes by expression (rank 1 = highest).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Walk the top T (top ~5%); recovery curve R(r) = # module genes with rank ≤ 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onsolas"/>
              </a:rPr>
              <a:t>AUC = Σ R(r),  normalised to [0,1]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High AUC → module genes cluster at the top → module active.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23038"/>
                </a:solidFill>
                <a:latin typeface="Calibri"/>
              </a:rPr>
              <a:t>Output: a 4-module activation vector per patient.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B7A82"/>
                </a:solidFill>
                <a:latin typeface="Calibri"/>
              </a:rPr>
              <a:t>This per-patient vector is exactly what powers the endotype use case (Part III).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7E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E5A9E"/>
                </a:solidFill>
                <a:latin typeface="Calibri"/>
              </a:rPr>
              <a:t>VALIDATION · B (4/4)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What the data shows</a:t>
            </a:r>
          </a:p>
        </p:txBody>
      </p:sp>
      <p:pic>
        <p:nvPicPr>
          <p:cNvPr id="6" name="Picture 5" descr="F2_multi_overlay_au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303520" cy="25627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146304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91440" cy="1371600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3F9E8C"/>
                </a:solidFill>
                <a:latin typeface="Consolas"/>
              </a:rPr>
              <a:t>81.3%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of detectable map species seen in patient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Coverage by module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M1 84% · M2 88% · M3 75% · M4 71% — the curated biology is largely measurable.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Biological validation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Type-I IFN (M1) significantly elevated in SSc skin: Gur p=3.2e-4, Tabib p=0.011.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2C3A"/>
                </a:solidFill>
                <a:latin typeface="Calibri"/>
              </a:rPr>
              <a:t>Annotation validated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CellTypist agreement κ=0.92, ARI=0.70 vs marker labels.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943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B7A82"/>
                </a:solidFill>
                <a:latin typeface="Calibri"/>
              </a:rPr>
              <a:t>Per-donor AUCell module scores, SSc vs HC.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46120"/>
            <a:ext cx="12191695" cy="64008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26D5A"/>
                </a:solidFill>
                <a:latin typeface="Calibri"/>
              </a:rPr>
              <a:t>PART III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Toward endotypes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FDEE2"/>
                </a:solidFill>
                <a:latin typeface="Calibri"/>
              </a:rPr>
              <a:t>Using the validated map to characterise patient subgroups — mechanistically.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ENDOTYPES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Patients already differ in module activation</a:t>
            </a:r>
          </a:p>
        </p:txBody>
      </p:sp>
      <p:pic>
        <p:nvPicPr>
          <p:cNvPr id="6" name="Picture 5" descr="F6_endotype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315200" cy="26125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0" y="146304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Each patient = a 4-module activation vector (Part II-B).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IFN activation is not uniform: 40/109 SSc skin donors are IFN-high, others are not (reproducible Gur + Tabib).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Distinct module profiles → candidate mechanism-matched endotypes (IFN-dominant vs fibrosis-dominant).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223038"/>
                </a:solidFill>
                <a:latin typeface="Calibri"/>
              </a:rPr>
              <a:t>Recapitulates the known SSc intrinsic subsets (inflammatory ↔ M1/M4, fibroproliferative ↔ M2).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26D5A"/>
                </a:solidFill>
                <a:latin typeface="Calibri"/>
              </a:rPr>
              <a:t>USE CASE</a:t>
            </a:r>
          </a:p>
          <a:p>
            <a:pPr algn="l">
              <a:spcBef>
                <a:spcPts val="100"/>
              </a:spcBef>
              <a:spcAft>
                <a:spcPts val="6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You arrive with 3 patient clusters — what the map gives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223038"/>
                </a:solidFill>
                <a:latin typeface="Calibri"/>
              </a:rPr>
              <a:t>Project any patient grouping onto the map — same pipeline (AUCell + per-cluster DEG + MINERVA overlay), your labels.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A82"/>
                </a:solidFill>
                <a:latin typeface="Calibri"/>
              </a:rPr>
              <a:t>YOUR CLUSTERS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2240280" cy="512064"/>
          </a:xfrm>
          <a:prstGeom prst="round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Cluster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80944"/>
            <a:ext cx="2240280" cy="512064"/>
          </a:xfrm>
          <a:prstGeom prst="round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Cluster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84448"/>
            <a:ext cx="2240280" cy="512064"/>
          </a:xfrm>
          <a:prstGeom prst="round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Cluster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26D5A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331720"/>
            <a:ext cx="8092440" cy="178308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487168"/>
            <a:ext cx="7589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7EA"/>
                </a:solidFill>
                <a:latin typeface="Calibri"/>
              </a:rPr>
              <a:t>AUCell — score each cluster on the 4 modules (M1/M2/M3/M4 + Tier-1).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7EA"/>
                </a:solidFill>
                <a:latin typeface="Calibri"/>
              </a:rPr>
              <a:t>Per-cluster differential expression mapped onto map species → which reactions light up.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DE7EA"/>
                </a:solidFill>
                <a:latin typeface="Calibri"/>
              </a:rPr>
              <a:t>MINERVA overlay — colour the map by each cluster (any label, no new method).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B7A82"/>
                </a:solidFill>
                <a:latin typeface="Calibri"/>
              </a:rPr>
              <a:t>WHAT YOU GET BACK — per cluster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709160"/>
            <a:ext cx="3611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3611880" cy="73152"/>
          </a:xfrm>
          <a:prstGeom prst="rect">
            <a:avLst/>
          </a:prstGeom>
          <a:solidFill>
            <a:srgbClr val="3A7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8463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3A73B8"/>
                </a:solidFill>
                <a:latin typeface="Calibri"/>
              </a:rPr>
              <a:t>Module fingerprint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a 4-module activation vector — e.g. cluster 2 IFN-high, cluster 3 fibrosis-dominant.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4709160"/>
            <a:ext cx="3611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4709160"/>
            <a:ext cx="3611880" cy="73152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48463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E26D5A"/>
                </a:solidFill>
                <a:latin typeface="Calibri"/>
              </a:rPr>
              <a:t>Mechanistic hypotheses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the lit-up sub-circuits that distinguish each cluster — e.g. STING→IRF3 vs TGF-β→SMAD3→collagen.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4709160"/>
            <a:ext cx="36118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4709160"/>
            <a:ext cx="3611880" cy="73152"/>
          </a:xfrm>
          <a:prstGeom prst="rect">
            <a:avLst/>
          </a:prstGeom>
          <a:solidFill>
            <a:srgbClr val="3F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846320"/>
            <a:ext cx="3246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3F9E8C"/>
                </a:solidFill>
                <a:latin typeface="Calibri"/>
              </a:rPr>
              <a:t>Candidate targets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23038"/>
                </a:solidFill>
                <a:latin typeface="Calibri"/>
              </a:rPr>
              <a:t>active druggable hubs per cluster → a cluster-matched therapy hypothesis to test.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A82"/>
                </a:solidFill>
                <a:latin typeface="Calibri"/>
              </a:rPr>
              <a:t>SSc-MIM · construction → validation → endotypes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373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8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E26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26D5A"/>
                </a:solidFill>
                <a:latin typeface="Calibri"/>
              </a:rPr>
              <a:t>In one line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 curated map, gated against fabrication, validated in patients — and ready to type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Construction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DDE7EA"/>
                </a:solidFill>
                <a:latin typeface="Calibri"/>
              </a:rPr>
              <a:t>Literature backbone + 133 gated SSc-specific reactions → one SBML map (568 sp / 308 rx).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Validation A — gates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DDE7EA"/>
                </a:solidFill>
                <a:latin typeface="Calibri"/>
              </a:rPr>
              <a:t>G0–G4 + G2 grounding + human ratification: no edge without a verbatim source.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Validation B — data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DDE7EA"/>
                </a:solidFill>
                <a:latin typeface="Calibri"/>
              </a:rPr>
              <a:t>4 datasets, 197 donors; per-donor pseudobulk + AUCell; 81.3% coverage; IFN validated in SSc skin.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42C3A"/>
                </a:solidFill>
                <a:latin typeface="Calibri"/>
              </a:rPr>
              <a:t>Endotypes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DDE7EA"/>
                </a:solidFill>
                <a:latin typeface="Calibri"/>
              </a:rPr>
              <a:t>Project your patient clusters → per-cluster module fingerprint, mechanistic hypotheses, candidate targets.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