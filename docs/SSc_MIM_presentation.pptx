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64008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FFFFFF"/>
                </a:solidFill>
                <a:latin typeface="Calibri"/>
              </a:rPr>
              <a:t>SSc-MIM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400" b="0" i="0">
                <a:solidFill>
                  <a:srgbClr val="CFDEE2"/>
                </a:solidFill>
                <a:latin typeface="Calibri"/>
              </a:rPr>
              <a:t>A curated, SBGN-compliant Molecular Interaction Map of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FDEE2"/>
                </a:solidFill>
                <a:latin typeface="Calibri"/>
              </a:rPr>
              <a:t>skin fibrosis in diffuse cutaneous systemic sclerosis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Nathan Foulquier — LBAI, UMR 1227 Inserm · Centre de Données, CHU de Brest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0" i="0">
                <a:solidFill>
                  <a:srgbClr val="2E8B9E"/>
                </a:solidFill>
                <a:latin typeface="Calibri"/>
              </a:rPr>
              <a:t>Expert biology review session · June 2026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300" b="0" i="0">
                <a:solidFill>
                  <a:srgbClr val="9FB6BD"/>
                </a:solidFill>
                <a:latin typeface="Calibri"/>
              </a:rPr>
              <a:t>github.com/Nurtal/IDT_SSc_map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WHY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Systemic sclerosis lacks a mechanistic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142C3A"/>
                </a:solidFill>
                <a:latin typeface="Calibri"/>
              </a:rPr>
              <a:t>The disease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23038"/>
                </a:solidFill>
                <a:latin typeface="Calibri"/>
              </a:rPr>
              <a:t>Systemic sclerosis (scleroderma) — autoimmune fibro-inflammatory disease: progressive skin &amp; organ fibrosis, vasculopathy, immune dysregulation.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23038"/>
                </a:solidFill>
                <a:latin typeface="Calibri"/>
              </a:rPr>
              <a:t>Highest mortality of any rheumatic disease — and no disease-modifying therapy is approved.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142C3A"/>
                </a:solidFill>
                <a:latin typeface="Calibri"/>
              </a:rPr>
              <a:t>The gap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23038"/>
                </a:solidFill>
                <a:latin typeface="Calibri"/>
              </a:rPr>
              <a:t>Curated disease maps exist for rheumatoid arthritis (RA-map), Sjögren, COVID-19, Parkinson…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50" b="0" i="0">
                <a:solidFill>
                  <a:srgbClr val="223038"/>
                </a:solidFill>
                <a:latin typeface="Calibri"/>
              </a:rPr>
              <a:t>None exists for SSc. Its core molecular circuits are scattered across the literature, never assembled into one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554480"/>
            <a:ext cx="41605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554480"/>
            <a:ext cx="4160520" cy="82296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Build the first SSc disease map, focused on dcSSc skin fibrosis.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Standards-based, fully sourced, citable (GitHub + Zenodo DOI).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Layered with real patient single-cell data — an analysis substrate, not just a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CONCEPT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is a Molecular Interaction Map?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23038"/>
                </a:solidFill>
                <a:latin typeface="Calibri"/>
              </a:rPr>
              <a:t>A computable, standards-based diagram of the molecular events driving a disease — species (genes, proteins, complexes, phenotypes) connected by mechanistic reactions.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2697480" cy="82296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E8B9E"/>
                </a:solidFill>
                <a:latin typeface="Calibri"/>
              </a:rPr>
              <a:t>SBGN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Systems Biology Graphical Notation — an unambiguous visual grammar for biology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78892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2788920"/>
            <a:ext cx="2697480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A73B8"/>
                </a:solidFill>
                <a:latin typeface="Calibri"/>
              </a:rPr>
              <a:t>CellDesigner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The editor the map is built in; exports standard SBML (machine-readable)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78892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788920"/>
            <a:ext cx="2697480" cy="82296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01752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3F9E8C"/>
                </a:solidFill>
                <a:latin typeface="Calibri"/>
              </a:rPr>
              <a:t>MI2CAST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Annotation standard: every reaction carries its evidence, source PMID &amp; ECO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2788920"/>
            <a:ext cx="26974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2788920"/>
            <a:ext cx="2697480" cy="82296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3017520"/>
            <a:ext cx="2331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26D5A"/>
                </a:solidFill>
                <a:latin typeface="Calibri"/>
              </a:rPr>
              <a:t>Reproducible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Public repo, scripted pipeline, Docker, continuous-integration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OVERVIEW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SSc-MIM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55448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63624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42C3A"/>
                </a:solidFill>
                <a:latin typeface="Consolas"/>
              </a:rPr>
              <a:t>568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molecular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91440" cy="155448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563624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E8B9E"/>
                </a:solidFill>
                <a:latin typeface="Consolas"/>
              </a:rPr>
              <a:t>308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mechanistic reactions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91440" cy="155448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63624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F9E8C"/>
                </a:solidFill>
                <a:latin typeface="Consolas"/>
              </a:rPr>
              <a:t>20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cell &amp; tissue compartments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417320"/>
            <a:ext cx="25603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417320"/>
            <a:ext cx="91440" cy="1554480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563624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A73B8"/>
                </a:solidFill>
                <a:latin typeface="Consolas"/>
              </a:rPr>
              <a:t>4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biological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91440" cy="155448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300984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E26D5A"/>
                </a:solidFill>
                <a:latin typeface="Consolas"/>
              </a:rPr>
              <a:t>133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hand-curated SSc-specific reactions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154680"/>
            <a:ext cx="2697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154680"/>
            <a:ext cx="91440" cy="155448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300984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42C3A"/>
                </a:solidFill>
                <a:latin typeface="Consolas"/>
              </a:rPr>
              <a:t>~360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PubMed references mined &amp; filled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154680"/>
            <a:ext cx="53949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154680"/>
            <a:ext cx="91440" cy="1554480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300984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7E5A9E"/>
                </a:solidFill>
                <a:latin typeface="Consolas"/>
              </a:rPr>
              <a:t>197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patients (121 SSc / 76 HC) across 4 single-cell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Built in CellDesigner, validated as SBML (0 errors in CI), annotated to MI2CAST, and released openly. Topology comes from the literature; patient data is layered on top to ground and read out the 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3B8"/>
                </a:solidFill>
                <a:latin typeface="Calibri"/>
              </a:rPr>
              <a:t>CONSTRUCTION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How the map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1">
                <a:solidFill>
                  <a:srgbClr val="223038"/>
                </a:solidFill>
                <a:latin typeface="Calibri"/>
              </a:rPr>
              <a:t>Topology is literature-derived and fully sourced — it is not inferred from the omics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2029967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2029967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377440"/>
            <a:ext cx="548640" cy="54864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63240"/>
            <a:ext cx="16459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Scope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Define 4 modules + 4 phenotype sinks; Tier-1 entity tables set the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71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A7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2148840"/>
            <a:ext cx="2029967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2148840"/>
            <a:ext cx="2029967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08376" y="2377440"/>
            <a:ext cx="548640" cy="54864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063240"/>
            <a:ext cx="16459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Backbone import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Canonical pathways from Reactome (IFN-I, TGF-β/PDGF, NOTCH1, IL-6); harmonised &amp; de-duplicated across modules.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971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A73B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5775" y="2148840"/>
            <a:ext cx="2029967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5775" y="2148840"/>
            <a:ext cx="2029967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66943" y="2377440"/>
            <a:ext cx="548640" cy="54864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3" y="3063240"/>
            <a:ext cx="16459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SSc curation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133 SSc-specific reactions hand-added from a 77-paper worklist + co-author full-text PDFs; each MI2CAST-annotated.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5" y="2971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A73B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3" y="2148840"/>
            <a:ext cx="2029967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24343" y="2148840"/>
            <a:ext cx="2029967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25511" y="2377440"/>
            <a:ext cx="548640" cy="54864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1" y="3063240"/>
            <a:ext cx="16459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Assemble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Wire everything in CellDesigner into one SBML map: 568 species / 308 reactions / 20 compartments.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3" y="2971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A73B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82911" y="2148840"/>
            <a:ext cx="2029967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1" y="2148840"/>
            <a:ext cx="2029967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9" y="2377440"/>
            <a:ext cx="548640" cy="54864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9" y="3063240"/>
            <a:ext cx="16459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QC gates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SBML validation in CI, grounding gate (no unsourced edges), contradiction detector, AI verdict + citation sweep.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A computable, fully-sourced map where every edge is traceable to a verified reference — ready for analysis and expert review.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STRUCTURE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Four biologically coherent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09728" cy="2057400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3A73B8"/>
                </a:solidFill>
                <a:latin typeface="Calibri"/>
              </a:rPr>
              <a:t>M1 — Type-I interferon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cGAS–STING, RIG-I/MAVS, TLR3/7/9 → IRF3/7 → ISG signature. The innate-immune ignition of SSc.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109728" cy="205740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6420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E26D5A"/>
                </a:solidFill>
                <a:latin typeface="Calibri"/>
              </a:rPr>
              <a:t>M2 — TGF-β &amp; fibrosis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Latent TGF-β activation → SMAD2/3 → fibroblast-to-myofibroblast transition, collagen &amp; ECM. The fibrotic 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09728" cy="205740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448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3F9E8C"/>
                </a:solidFill>
                <a:latin typeface="Calibri"/>
              </a:rPr>
              <a:t>M3 — EndoMT &amp; vasculopathy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Endothelin, Notch, NO/sGC, HIF → endothelial-to-mesenchymal transition &amp; vascular remodelling.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703320"/>
            <a:ext cx="54406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03320"/>
            <a:ext cx="109728" cy="2057400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0448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900" b="1" i="0">
                <a:solidFill>
                  <a:srgbClr val="7E5A9E"/>
                </a:solidFill>
                <a:latin typeface="Calibri"/>
              </a:rPr>
              <a:t>M4 — IL-6 / Th2 / B cells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IL-6/STAT3, IL-4/IL-13/STAT6, BAFF–BCMA, autoantibodies. The adaptive-immune &amp; cytokine layer.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6B7A82"/>
                </a:solidFill>
                <a:latin typeface="Calibri"/>
              </a:rPr>
              <a:t>Plus a crosstalk layer wiring the modules together (e.g. IL-6 → SMAD3, IFN-I → fibroblast).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THE MAP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One integrated, modular network</a:t>
            </a:r>
          </a:p>
        </p:txBody>
      </p:sp>
      <p:pic>
        <p:nvPicPr>
          <p:cNvPr id="6" name="Picture 5" descr="F1_global_MIM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41984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5544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Each quadrant is one module; nodes are species, edges are mechanistic reactions.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Hubs that emerge from network analysis match known SSc biology: TGF-β:receptor, SMAD3–SMAD4, ISG signature, PDGFR.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The same SBML file drives the figure, the analysis, and the online viewer.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DESIGN PRINCIPLE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From molecules to disease phenotypes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23038"/>
                </a:solidFill>
                <a:latin typeface="Calibri"/>
              </a:rPr>
              <a:t>The map is built around four phenotype “sinks” — the biological outputs of the disease. Modelling rule: every disease-relevant entity must reach a sink in ≤ 6 steps (verified: 0 violations).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34640"/>
            <a:ext cx="2468880" cy="155448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Myofibroblast</a:t>
            </a:r>
            <a:br/>
            <a:r>
              <a:t>activation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834640"/>
            <a:ext cx="2468880" cy="155448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ECM / collagen</a:t>
            </a:r>
            <a:br/>
            <a:r>
              <a:t>deposition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34640"/>
            <a:ext cx="2468880" cy="1554480"/>
          </a:xfrm>
          <a:prstGeom prst="round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Vascular</a:t>
            </a:r>
            <a:br/>
            <a:r>
              <a:t>remodelling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834640"/>
            <a:ext cx="2468880" cy="155448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ISG / interferon</a:t>
            </a:r>
            <a:br/>
            <a:r>
              <a:t>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It turns a static drawing into a testable model: a perturbation anywhere has a traceable path to a clinical readout.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It makes the scope explicit and reviewable — exactly what we want expert biologists to challenge.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F9E8C"/>
                </a:solidFill>
                <a:latin typeface="Calibri"/>
              </a:rPr>
              <a:t>RIGOUR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Every reaction is sourced and graded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42C3A"/>
                </a:solidFill>
                <a:latin typeface="Calibri"/>
              </a:rPr>
              <a:t>Tiered citation policy (GO-aligned)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23038"/>
                </a:solidFill>
                <a:latin typeface="Calibri"/>
              </a:rPr>
              <a:t>Each reaction carries a primary PubMed ID and an ECO evidence code — experimental evidence ranked above inference.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42C3A"/>
                </a:solidFill>
                <a:latin typeface="Calibri"/>
              </a:rPr>
              <a:t>Provenance is tracked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23038"/>
                </a:solidFill>
                <a:latin typeface="Calibri"/>
              </a:rPr>
              <a:t>Every edge records where it came from: Reactome import, hand curation, or literature mining — fully auditable.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42C3A"/>
                </a:solidFill>
                <a:latin typeface="Calibri"/>
              </a:rPr>
              <a:t>No fabricated citations — ever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223038"/>
                </a:solidFill>
                <a:latin typeface="Calibri"/>
              </a:rPr>
              <a:t>A built-in grounding gate rejects any claim without a real, verifiable source (a negative-control fixture proves it works).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554480"/>
            <a:ext cx="52578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~360 references mined &amp; auto-filled (title, authors, journal) via NCBI E-utils.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133 SSc-specific reactions curated from a systematic 77-paper worklist + co-author full-text PDFs.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MI2CAST-compliant annotation throughout.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PATIENT DATA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Four public single-cell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3038"/>
                </a:solidFill>
                <a:latin typeface="Calibri"/>
              </a:rPr>
              <a:t>197 donors (121 SSc / 76 HC) across skin, lung and blood — all re-analysed from raw GEO files.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59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GEO accession</a:t>
                      </a:r>
                    </a:p>
                  </a:txBody>
                  <a:tcPr marL="109728" marT="36576" marB="36576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Reference (verified)</a:t>
                      </a:r>
                    </a:p>
                  </a:txBody>
                  <a:tcPr marL="109728" marT="36576" marB="36576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Tissue</a:t>
                      </a:r>
                    </a:p>
                  </a:txBody>
                  <a:tcPr marL="109728" marT="36576" marB="36576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Donors (SSc/HC)</a:t>
                      </a:r>
                    </a:p>
                  </a:txBody>
                  <a:tcPr marL="109728" marT="36576" marB="36576">
                    <a:solidFill>
                      <a:srgbClr val="142C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GSE195452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Gur C et al. Cell 2022;185:1373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Skin (multiome)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154  (97 / 57)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GSE138669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Tabib T et al. Nat Commun 2021;12:4384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22  (12 / 10)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GSE128169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Morse C et al. Eur Respir J 2019;54:1802441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Lung (ILD)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13  (8 / 5)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7E5A9E"/>
                          </a:solidFill>
                          <a:latin typeface="Calibri"/>
                        </a:rPr>
                        <a:t>GSE210395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GEO — no linked publication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PBMC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onsolas"/>
                        </a:rPr>
                        <a:t>8  (4 / 4)</a:t>
                      </a:r>
                    </a:p>
                  </a:txBody>
                  <a:tcPr marL="109728" marT="36576" marB="36576">
                    <a:solidFill>
                      <a:srgbClr val="ECEA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Skin cohorts (Gur, Tabib) give fibroblast-subset resolution — the actors M2/M3 model; ≈100k and 64k annotated cells.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Lung (SSc-ILD) and PBMC extend the map beyond skin. Every citation above was re-checked against PubMed.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DATA ↔ MAP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How patient data is layered on the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9461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59461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600200"/>
            <a:ext cx="548640" cy="54864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221056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Re-process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scanpy QC + cell-type annotation of each dataset from raw counts.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4962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E5A9E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1850" y="1371600"/>
            <a:ext cx="259461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1850" y="1371600"/>
            <a:ext cx="259461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3018" y="1600200"/>
            <a:ext cx="548640" cy="54864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2286000"/>
            <a:ext cx="221056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Pseudobulk DEG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Per-donor pseudobulk; SSc-vs-HC differential expression (mixed-effects NB GLM, BH-FDR).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8172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E5A9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1371600"/>
            <a:ext cx="259461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5060" y="1371600"/>
            <a:ext cx="259461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6228" y="1600200"/>
            <a:ext cx="548640" cy="54864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228" y="2286000"/>
            <a:ext cx="221056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Map onto species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Match differentially-expressed genes to map species →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1382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7E5A9E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8270" y="1371600"/>
            <a:ext cx="259461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8270" y="1371600"/>
            <a:ext cx="259461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19438" y="1600200"/>
            <a:ext cx="548640" cy="548640"/>
          </a:xfrm>
          <a:prstGeom prst="ellipse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9438" y="2286000"/>
            <a:ext cx="221056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Score per donor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23038"/>
                </a:solidFill>
                <a:latin typeface="Calibri"/>
              </a:rPr>
              <a:t>AUCell turns each patient into a 4-module activation vector.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60520"/>
            <a:ext cx="35661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91440" cy="141732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06824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F9E8C"/>
                </a:solidFill>
                <a:latin typeface="Consolas"/>
              </a:rPr>
              <a:t>81.3%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of detectable map species observed in patient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6052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M1 84% · M2 88% · M3 75% · M4 71% — the curated biology is largely measurable in real patients.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Biological check: M1 / type-I IFN module significantly elevated in SSc skin (Gur p = 3.2×10⁻⁴; Tabib p = 0.011).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60 ready-to-load MINERVA overlays for interactive exploration.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NEW DIRECTION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Toward endotypes: distinct activation profiles</a:t>
            </a:r>
          </a:p>
        </p:txBody>
      </p:sp>
      <p:pic>
        <p:nvPicPr>
          <p:cNvPr id="6" name="Picture 5" descr="F6_endotyp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315200" cy="2612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41732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The map converts each patient into a 4-module activation vector.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Real result: IFN activation is heterogeneous — 40/109 SSc skin donors are IFN-high, others are not (reproducible across Gur + Tabib).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Distinct module profiles → candidate, mechanism-matched endotypes (IFN-dominant vs fibrosis-dominant).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0" i="0">
                <a:solidFill>
                  <a:srgbClr val="223038"/>
                </a:solidFill>
                <a:latin typeface="Calibri"/>
              </a:rPr>
              <a:t>Recapitulates the known SSc intrinsic subsets (inflammatory ↔ M1/M4, fibroproliferative ↔ M2).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1" i="0">
                <a:solidFill>
                  <a:srgbClr val="142C3A"/>
                </a:solidFill>
                <a:latin typeface="Calibri"/>
              </a:rPr>
              <a:t>Clinical promise: module-matched therapy — IFN-high → JAK/IFN axis; fibrosis-high → TGF-β/CTGF 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APPLICATION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 substrate for drug prioritisation</a:t>
            </a:r>
          </a:p>
        </p:txBody>
      </p:sp>
      <p:pic>
        <p:nvPicPr>
          <p:cNvPr id="6" name="Picture 5" descr="F3_druggable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5379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Network hubs cross-referenced with DGIdb drug–target data.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Recovers targets already in SSc trials — tocilizumab (IL-6), nintedanib, romilkimab (IL-13), pamrevlumab (CTGF/CCN2), bosentan (endothelin).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Drug table recalibrated against real SSc clinical-trial outcomes.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Shows the map can rank and rationalise repurposing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QUALITY CONTROL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Independent verification of every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55448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63624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42C3A"/>
                </a:solidFill>
                <a:latin typeface="Consolas"/>
              </a:rPr>
              <a:t>143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interactions queued for expert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91440" cy="155448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563624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3F9E8C"/>
                </a:solidFill>
                <a:latin typeface="Consolas"/>
              </a:rPr>
              <a:t>128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passed automated AI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91440" cy="155448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563624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E26D5A"/>
                </a:solidFill>
                <a:latin typeface="Consolas"/>
              </a:rPr>
              <a:t>28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wrong source PMIDs caught &amp; 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242316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20" y="1417320"/>
            <a:ext cx="91440" cy="155448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1563624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2E8B9E"/>
                </a:solidFill>
                <a:latin typeface="Consolas"/>
              </a:rPr>
              <a:t>0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223038"/>
                </a:solidFill>
                <a:latin typeface="Calibri"/>
              </a:rPr>
              <a:t>fabricated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Contradiction detector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Flags any gene pair given opposite signs by different sources, for human arbitration.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AI reviewer pass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Each interaction checked against its deciding sentence + supporting/contrary abstracts — verdict: validate / revise / caution.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Citation-integrity sweep (this week)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Found 28 reactions whose cited PMID pointed to an unrelated paper (biology canonical, reference a data-entry slip — e.g. a TGF-β reaction cited to a rubella study). Every replacement PMID was re-verified against live PubMed before applying.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TODAY'S TOOL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 app to review the map, one interaction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A swipe deck for curation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Offline, self-contained web app — one card per interaction, accept / reject / annotate.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Everything you need to decide, on the card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Regulator → target, mechanism, SSc relevance, the verbatim deciding sentence from the source article, and PubMed/DOI links.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Context before you judge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A literature dossier lists candidate supporting and “possibly contrary” references; an in-browser module map shows the neighbourhood.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42C3A"/>
                </a:solidFill>
                <a:latin typeface="Calibri"/>
              </a:rPr>
              <a:t>Advisory AI verdict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Each card shows the AI call + rationale — filter to triage, but the human reviewer always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554480"/>
            <a:ext cx="4297680" cy="438912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DDE7EA"/>
                </a:solidFill>
                <a:latin typeface="Calibri"/>
              </a:rPr>
              <a:t>No install, no server — open one HTML file.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DDE7EA"/>
                </a:solidFill>
                <a:latin typeface="Calibri"/>
              </a:rPr>
              <a:t>Decisions saved locally; export to CSV/JSON.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DDE7EA"/>
                </a:solidFill>
                <a:latin typeface="Calibri"/>
              </a:rPr>
              <a:t>Re-includes even discarded edges, so you keep full control.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DDE7EA"/>
                </a:solidFill>
                <a:latin typeface="Calibri"/>
              </a:rPr>
              <a:t>Demo right after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WHAT WE ASK OF YOU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Three things from expert biologists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118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82296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874519"/>
            <a:ext cx="868680" cy="868680"/>
          </a:xfrm>
          <a:prstGeom prst="ellipse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2C3A"/>
                </a:solidFill>
                <a:latin typeface="Calibri"/>
              </a:rPr>
              <a:t>Validate the scope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Do the 4 modules + phenotype sinks capture dcSSc skin fibrosis? What is missing or over-reaching?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54480"/>
            <a:ext cx="36118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611880" cy="82296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1874519"/>
            <a:ext cx="868680" cy="86868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2C3A"/>
                </a:solidFill>
                <a:latin typeface="Calibri"/>
              </a:rPr>
              <a:t>Curate the entities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Tier-1 SSc species: what to add, remove, or promote — with PMIDs where you have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554480"/>
            <a:ext cx="36118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54480"/>
            <a:ext cx="3611880" cy="82296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7616" y="1874519"/>
            <a:ext cx="868680" cy="868680"/>
          </a:xfrm>
          <a:prstGeom prst="ellipse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7180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42C3A"/>
                </a:solidFill>
                <a:latin typeface="Calibri"/>
              </a:rPr>
              <a:t>Adjudicate interactions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Use the review app on the 143 interactions: confirm, reject, or flag for revision.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Molecular Interaction Map of skin fibrosis in dcSSc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B9E"/>
                </a:solidFill>
                <a:latin typeface="Calibri"/>
              </a:rPr>
              <a:t>Where this is going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 open, citable SSc resource — and your review is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DDE7EA"/>
                </a:solidFill>
                <a:latin typeface="Calibri"/>
              </a:rPr>
              <a:t>v1.0 release: GitHub + Zenodo DOI (citable).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DDE7EA"/>
                </a:solidFill>
                <a:latin typeface="Calibri"/>
              </a:rPr>
              <a:t>Resource paper (npj Systems Biology &amp; Applications) — revision drafted.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DDE7EA"/>
                </a:solidFill>
                <a:latin typeface="Calibri"/>
              </a:rPr>
              <a:t>Endotype stratification as the next translational step.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DDE7EA"/>
                </a:solidFill>
                <a:latin typeface="Calibri"/>
              </a:rPr>
              <a:t>Expert sign-off on scope &amp; interactions is the last binding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2514600"/>
            <a:ext cx="4069080" cy="3200400"/>
          </a:xfrm>
          <a:prstGeom prst="rect">
            <a:avLst/>
          </a:prstGeom>
          <a:solidFill>
            <a:srgbClr val="1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78892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9CDD3"/>
                </a:solidFill>
                <a:latin typeface="Calibri"/>
              </a:rPr>
              <a:t>Nathan Foulquier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9CDD3"/>
                </a:solidFill>
                <a:latin typeface="Calibri"/>
              </a:rPr>
              <a:t>LBAI · UMR 1227 Inserm · CHU de Brest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B9CDD3"/>
                </a:solidFill>
                <a:latin typeface="Calibri"/>
              </a:rPr>
              <a:t>github.com/Nurtal/IDT_SSc_map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2E8B9E"/>
                </a:solidFill>
                <a:latin typeface="Calibri"/>
              </a:rPr>
              <a:t>Open the review app now for a live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