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400" b="1" i="0">
                <a:solidFill>
                  <a:srgbClr val="FFFFFF"/>
                </a:solidFill>
                <a:latin typeface="Calibri"/>
              </a:rPr>
              <a:t>SSc-MIM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A curated, SBGN-compliant Molecular Interaction Map of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skin fibrosis in diffuse cutaneous systemic sclerosis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Nathan Foulquier — LBAI, UMR 1227 Inserm · Centre de Données, CHU de Brest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0" i="0">
                <a:solidFill>
                  <a:srgbClr val="2E8B9E"/>
                </a:solidFill>
                <a:latin typeface="Calibri"/>
              </a:rPr>
              <a:t>Expert biology review session · June 2026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00" b="0" i="0">
                <a:solidFill>
                  <a:srgbClr val="9FB6BD"/>
                </a:solidFill>
                <a:latin typeface="Calibri"/>
              </a:rPr>
              <a:t>github.com/Nurtal/IDT_SSc_map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WHY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Systemic sclerosis lacks a mechanistic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disease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Systemic sclerosis (scleroderma) — autoimmune fibro-inflammatory disease: progressive skin &amp; organ fibrosis, vasculopathy, immune dysregulation.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Highest mortality of any rheumatic disease — and no disease-modifying therapy is approved.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gap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Curated disease maps already exist for rheumatoid arthritis (RA-map), Sjögren, COVID-19, Parkinson…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None exists for SSc. Its core molecular circuits are scattered across the literature, never assembled into one mechanistic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554480"/>
            <a:ext cx="416052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554480"/>
            <a:ext cx="416052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828800"/>
            <a:ext cx="3657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Build the first SSc disease map, focused on dcSSc skin fibrosis.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Standards-based, fully sourced, and citable (GitHub + Zenodo DOI).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Layered with real single-cell patient data so it is not just a diagram but an analysis substrate.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CONCEPT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is a Molecular Interaction Map?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23038"/>
                </a:solidFill>
                <a:latin typeface="Calibri"/>
              </a:rPr>
              <a:t>A computable, standards-based diagram of the molecular events driving a disease — species (genes, proteins, complexes, phenotypes) connected by mechanistic reactions.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834640"/>
            <a:ext cx="2697480" cy="8229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06324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E8B9E"/>
                </a:solidFill>
                <a:latin typeface="Calibri"/>
              </a:rPr>
              <a:t>SBGN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Systems Biology Graphical Notation — an unambiguous visual grammar for biology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283464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4992" y="2834640"/>
            <a:ext cx="26974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06324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A73B8"/>
                </a:solidFill>
                <a:latin typeface="Calibri"/>
              </a:rPr>
              <a:t>CellDesigner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The editor the map is built in; exports standard SBML (machine-readable)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283464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2834640"/>
            <a:ext cx="26974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06324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F9E8C"/>
                </a:solidFill>
                <a:latin typeface="Calibri"/>
              </a:rPr>
              <a:t>MI2CAST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Annotation standard: every reaction carries its evidence, source PMID &amp; ECO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7696" y="283464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7696" y="2834640"/>
            <a:ext cx="26974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306324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E26D5A"/>
                </a:solidFill>
                <a:latin typeface="Calibri"/>
              </a:rPr>
              <a:t>Reproducible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Public repo, scripted pipeline, Docker, continuous-integration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OVERVIEW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SSc-MIM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62763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42C3A"/>
                </a:solidFill>
                <a:latin typeface="Consolas"/>
              </a:rPr>
              <a:t>568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molecular species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46304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62763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2E8B9E"/>
                </a:solidFill>
                <a:latin typeface="Consolas"/>
              </a:rPr>
              <a:t>308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mechanistic reactions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62763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3F9E8C"/>
                </a:solidFill>
                <a:latin typeface="Consolas"/>
              </a:rPr>
              <a:t>20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cell &amp; tissue compartments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46304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463040"/>
            <a:ext cx="91440" cy="155448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1627632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3A73B8"/>
                </a:solidFill>
                <a:latin typeface="Consolas"/>
              </a:rPr>
              <a:t>4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biological modules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0040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20040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6499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E26D5A"/>
                </a:solidFill>
                <a:latin typeface="Consolas"/>
              </a:rPr>
              <a:t>133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hand-curated SSc-specific reactions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0040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20040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39312" y="336499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42C3A"/>
                </a:solidFill>
                <a:latin typeface="Consolas"/>
              </a:rPr>
              <a:t>~360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PubMed references mined &amp; filled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00400"/>
            <a:ext cx="53949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91440" cy="155448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3364992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7E5A9E"/>
                </a:solidFill>
                <a:latin typeface="Consolas"/>
              </a:rPr>
              <a:t>197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patients across 4 single-cell datasets overlaid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74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Built in CellDesigner, validated as SBML (0 errors in CI), annotated to MI2CAST, and released openly. The map is organised so that every disease-relevant entity flows toward a measurable disease phenotype.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STRUCTURE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biologically coherent modules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09728" cy="205740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6420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3A73B8"/>
                </a:solidFill>
                <a:latin typeface="Calibri"/>
              </a:rPr>
              <a:t>M1 — Type-I interferon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cGAS–STING, RIG-I/MAVS, TLR3/7/9 → IRF3/7 → ISG signature. The innate-immune ignition of SSc.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463040"/>
            <a:ext cx="109728" cy="205740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6420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E26D5A"/>
                </a:solidFill>
                <a:latin typeface="Calibri"/>
              </a:rPr>
              <a:t>M2 — TGF-β &amp; fibrosis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Latent TGF-β activation → SMAD2/3 → fibroblast-to-myofibroblast transition, collagen &amp; ECM. The fibrotic 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0332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703320"/>
            <a:ext cx="109728" cy="205740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0448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3F9E8C"/>
                </a:solidFill>
                <a:latin typeface="Calibri"/>
              </a:rPr>
              <a:t>M3 — EndoMT &amp; vasculopathy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Endothelin, Notch, NO/sGC, HIF → endothelial-to-mesenchymal transition &amp; vascular remodelling.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70332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703320"/>
            <a:ext cx="109728" cy="205740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0448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7E5A9E"/>
                </a:solidFill>
                <a:latin typeface="Calibri"/>
              </a:rPr>
              <a:t>M4 — IL-6 / Th2 / B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IL-6/STAT3, IL-4/IL-13/STAT6, BAFF–BCMA, autoantibodies. The adaptive-immune &amp; cytokine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B7A82"/>
                </a:solidFill>
                <a:latin typeface="Calibri"/>
              </a:rPr>
              <a:t>Plus a crosstalk layer wiring the modules together (e.g. IL-6 → SMAD3, IFN-I → fibroblast).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THE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integrated, modular network</a:t>
            </a:r>
          </a:p>
        </p:txBody>
      </p:sp>
      <p:pic>
        <p:nvPicPr>
          <p:cNvPr id="6" name="Picture 5" descr="F1_global_MIM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41984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55448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Each quadrant is one module; nodes are molecular species, edges are mechanistic reactions.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Hubs that emerge from network analysis match known SSc biology: TGF-β:receptor, SMAD3–SMAD4, ISG signature, PDGFR.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The same SBML file drives the figure, the analysis, and the online viewer.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DESIGN PRINCIPLE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molecules to disease phenotypes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3038"/>
                </a:solidFill>
                <a:latin typeface="Calibri"/>
              </a:rPr>
              <a:t>The map is built around four phenotype “sinks” — the biological outputs of the disease. Modelling rule: every disease-relevant entity must reach a sink in ≤ 6 steps (verified: 0 violations).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834640"/>
            <a:ext cx="2468880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Myofibroblast</a:t>
            </a:r>
            <a:br/>
            <a:r>
              <a:t>activation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834640"/>
            <a:ext cx="2468880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ECM / collagen</a:t>
            </a:r>
            <a:br/>
            <a:r>
              <a:t>deposition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2468880" cy="1554480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Vascular</a:t>
            </a:r>
            <a:br/>
            <a:r>
              <a:t>remodelling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2834640"/>
            <a:ext cx="2468880" cy="15544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ISG / interferon</a:t>
            </a:r>
            <a:br/>
            <a:r>
              <a:t>signature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92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turns a static drawing into a testable model: a perturbation anywhere has a traceable path to a clinical readout.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makes the scope explicit and reviewable — exactly what we want expert biologists to challenge.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F9E8C"/>
                </a:solidFill>
                <a:latin typeface="Calibri"/>
              </a:rPr>
              <a:t>RIGOUR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Every reaction is sourced and graded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Tiered citation policy (GO-aligned)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Each reaction carries a primary PubMed ID and an ECO evidence code — experimental evidence ranked above inference.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Provenance is tracked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Every edge records where it came from: Reactome import, hand curation, or literature mining — fully auditable.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No fabricated citations — ever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A built-in grounding gate rejects any claim without a real, verifiable source (a deliberate negative-control proves it works).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~360 references mined and auto-filled (title, authors, journal) via NCBI E-utils.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133 SSc-specific reactions curated from a systematic 77-paper worklist + co-author full-text PDFs.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MI2CAST-compliant annotation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Layered with real patient single-cell data</a:t>
            </a:r>
          </a:p>
        </p:txBody>
      </p:sp>
      <p:pic>
        <p:nvPicPr>
          <p:cNvPr id="6" name="Picture 5" descr="F2_multi_overlay_au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26511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46304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4 datasets · 197 patients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Skin (Tabib, Gur multiome), PBMC and lung — SSc vs healthy controls.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81% of the map is measurable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After mixed-effects differential expression, 81% of detectable map species are observed in the data.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The biology holds up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Per-donor module scoring (AUCell) shows the M1 interferon signature significantly elevated in SSc skin (p = 3.2×10⁻⁴).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B7A82"/>
                </a:solidFill>
                <a:latin typeface="Calibri"/>
              </a:rPr>
              <a:t>AUCell module scores, SSc vs HC, per donor (Fig. 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APPLICATION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substrate for drug prioritisation</a:t>
            </a:r>
          </a:p>
        </p:txBody>
      </p:sp>
      <p:pic>
        <p:nvPicPr>
          <p:cNvPr id="6" name="Picture 5" descr="F3_druggable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3796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5544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Network hubs cross-referenced with DGIdb drug–target data.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Recovers targets already in SSc trials — tocilizumab (IL-6), nintedanib, romilkimab (IL-13), pamrevlumab (CTGF/CCN2), bosentan (endothelin).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Drug table recalibrated against real SSc clinical-trial outcomes.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Shows the map can rank and rationalise repurposing 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QUALITY CONTROL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Independent verification of every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8191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42C3A"/>
                </a:solidFill>
                <a:latin typeface="Consolas"/>
              </a:rPr>
              <a:t>143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interactions queued for expert 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41732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58191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3F9E8C"/>
                </a:solidFill>
                <a:latin typeface="Consolas"/>
              </a:rPr>
              <a:t>128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passed automated AI verification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58191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E26D5A"/>
                </a:solidFill>
                <a:latin typeface="Consolas"/>
              </a:rPr>
              <a:t>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wrong source PMIDs caught &amp; fixed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417320"/>
            <a:ext cx="24231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89720" y="141732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581912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2E8B9E"/>
                </a:solidFill>
                <a:latin typeface="Consolas"/>
              </a:rPr>
              <a:t>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fabricated citations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Contradiction detector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Flags any gene pair given opposite signs by different sources, for human arbitration.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AI reviewer pass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interaction was checked against its deciding sentence and supporting/contrary abstracts — verdict: validate / revise / caution.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Citation-integrity sweep (this week)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Detected 28 reactions whose cited PMID pointed to an unrelated paper (biology canonical, reference a data-entry slip — e.g. a TGF-β reaction cited to a rubella study). Each replacement PMID was re-verified against live PubMed before applying.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TODAY'S TOOL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An app to review the map, one interaction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 swipe deck for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Offline, self-contained web app — one card per interaction, accept / reject / annotate.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Everything you need to decide, on the card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Regulator → target, mechanism, SSc relevance, the verbatim deciding sentence from the source article, and PubMed/DOI links.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Context before you judge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A literature dossier lists candidate supporting and “possibly contrary” references; an in-browser module map shows the neighbourhood.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Advisory AI verdict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card shows the AI call + rationale — you can filter to triage, but the human reviewer always decides.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82880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No install, no server — open one HTML file.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Decisions saved locally; export to CSV/JSON.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Re-includes even discarded edges, so you keep full control.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Demo right after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WHAT WE ASK OF YOU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Three things from expert biologists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59" y="1874519"/>
            <a:ext cx="868680" cy="86868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Validate the scope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Do the 4 modules + phenotype sinks capture dcSSc skin fibrosis? What is missing or over-reaching?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554480"/>
            <a:ext cx="36118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1874519"/>
            <a:ext cx="868680" cy="86868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Curate the entities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Tier-1 SSc species: what to add, remove, or promote — with PMIDs where you have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554480"/>
            <a:ext cx="36118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57616" y="1874519"/>
            <a:ext cx="868680" cy="868680"/>
          </a:xfrm>
          <a:prstGeom prst="ellipse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Adjudicate interactions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Use the review app on the 143 interactions: confirm, reject, or flag for revision.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48840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Where this is going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An open, citable SSc resource — and your review is the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v1.0 release: GitHub + Zenodo DOI (citable).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Resource paper (npj Systems Biology &amp; Applications) — revision drafted.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Expert sign-off on scope &amp; interactions is the last binding step.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Stretch: interactive MINERVA web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2514600"/>
            <a:ext cx="4069080" cy="320040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788920"/>
            <a:ext cx="356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Nathan Foulquier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LBAI · UMR 1227 Inserm · CHU de Brest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github.com/Nurtal/IDT_SSc_map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8B9E"/>
                </a:solidFill>
                <a:latin typeface="Calibri"/>
              </a:rPr>
              <a:t>Open the review app now for a live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