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A curated, SBGN-compliant Molecular Interaction Map of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skin fibrosis in diffuse cutaneous systemic sclerosis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Nathan Foulquier — LBAI, UMR 1227 Inserm · Centre de Données, CHU de Brest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2E8B9E"/>
                </a:solidFill>
                <a:latin typeface="Calibri"/>
              </a:rPr>
              <a:t>Expert biology review session · June 2026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0">
                <a:solidFill>
                  <a:srgbClr val="9FB6BD"/>
                </a:solidFill>
                <a:latin typeface="Calibri"/>
              </a:rPr>
              <a:t>github.com/Nurtal/IDT_SSc_map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WHY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Systemic sclerosis lacks a mechanistic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disease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Systemic sclerosis (scleroderma) — autoimmune fibro-inflammatory disease: progressive skin &amp; organ fibrosis, vasculopathy, immune dysregulation.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Highest mortality of any rheumatic disease — and no disease-modifying therapy is approved.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gap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Curated disease maps exist for rheumatoid arthritis (RA-map), Sjögren, COVID-19, Parkinson…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None exists for SSc. Its core molecular circuits are scattered across the literature, never assembled into one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416052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554480"/>
            <a:ext cx="416052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Build the first SSc disease map, focused on dcSSc skin fibrosis.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Standards-based, fully sourced, citable (GitHub + Zenodo DOI).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Layered with real patient single-cell data — an analysis substrate, not just a diagram.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CONCEPT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is a Molecular Interaction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23038"/>
                </a:solidFill>
                <a:latin typeface="Calibri"/>
              </a:rPr>
              <a:t>A computable, standards-based diagram of the molecular events driving a disease — species (genes, proteins, complexes, phenotypes) connected by mechanistic reactions.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269748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E8B9E"/>
                </a:solidFill>
                <a:latin typeface="Calibri"/>
              </a:rPr>
              <a:t>SBGN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Systems Biology Graphical Notation — an unambiguous visual grammar for biology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2788920"/>
            <a:ext cx="26974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73B8"/>
                </a:solidFill>
                <a:latin typeface="Calibri"/>
              </a:rPr>
              <a:t>CellDesigner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The editor the map is built in; exports standard SBML (machine-readable)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2788920"/>
            <a:ext cx="26974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F9E8C"/>
                </a:solidFill>
                <a:latin typeface="Calibri"/>
              </a:rPr>
              <a:t>MI2CAST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Annotation standard: every reaction carries its evidence, source PMID &amp; ECO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2788920"/>
            <a:ext cx="26974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26D5A"/>
                </a:solidFill>
                <a:latin typeface="Calibri"/>
              </a:rPr>
              <a:t>Reproducible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Public repo, scripted pipeline, Docker, continuous-integration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OVERVIEW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SSc-MIM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20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cell &amp; tissue compartments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55448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563624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A73B8"/>
                </a:solidFill>
                <a:latin typeface="Consolas"/>
              </a:rPr>
              <a:t>5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biological 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5468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hand-curated SSc-specific reactions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15468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~360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PubMed references mined &amp;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54680"/>
            <a:ext cx="53949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91440" cy="155448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00984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patients (121 SSc / 76 HC) across 4 single-cell datasets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Built in CellDesigner, validated as SBML (0 errors in CI), annotated to MI2CAST, and released openly. Topology comes from the literature; patient data is layered on top to ground and read out the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map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Topology is literature-derived and fully sourced — it is not inferred from the omics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Define 5 modules + 6 phenotype endpoints; Tier-1 entity tables set the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08376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Canonical pathways from Reactome (IFN-I, TGF-β/PDGF, NOTCH1, IL-6); harmonised &amp; de-duplicated across modules.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5775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5775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6943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3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133 SSc-specific reactions hand-added from a 77-paper worklist + co-author full-text PDFs; each MI2CAST-annotated.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5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3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3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25511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1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Assemble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Wire everything in CellDesigner into one SBML map: 568 species / 308 reactions / 20 compartments.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3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82911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82911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9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79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QC gates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SBML validation in CI, grounding gate (no unsourced edges), contradiction detector, AI verdict + citation sweep.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computable, fully-sourced map where every edge is traceable to a verified reference — ready for analysis and expert review.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STRUCTURE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biologically coherent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" cy="841248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73B8"/>
                </a:solidFill>
                <a:latin typeface="Calibri"/>
              </a:rPr>
              <a:t>M1 — Type-I interferon   </a:t>
            </a:r>
            <a:r>
              <a:rPr sz="1350">
                <a:solidFill>
                  <a:srgbClr val="223038"/>
                </a:solidFill>
              </a:rPr>
              <a:t>cGAS–STING, RIG-I/MAVS, TLR3/7/9 → IRF3/7 → ISG signature. The innate-immune ignition.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0008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50008"/>
            <a:ext cx="109728" cy="84124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M2 — TGF-β &amp; fibrosis   </a:t>
            </a:r>
            <a:r>
              <a:rPr sz="1350">
                <a:solidFill>
                  <a:srgbClr val="223038"/>
                </a:solidFill>
              </a:rPr>
              <a:t>Latent TGF-β → SMAD2/3 → fibroblast→myofibroblast, collagen &amp; ECM. The fibrotic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109728" cy="841248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0156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F9E8C"/>
                </a:solidFill>
                <a:latin typeface="Calibri"/>
              </a:rPr>
              <a:t>M3 — EndoMT &amp; vasculopathy   </a:t>
            </a:r>
            <a:r>
              <a:rPr sz="1350">
                <a:solidFill>
                  <a:srgbClr val="223038"/>
                </a:solidFill>
              </a:rPr>
              <a:t>Endothelin, Notch, NO/sGC, HIF → endothelial-to-mesenchymal transition &amp; vascular remodelling.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15384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15384"/>
            <a:ext cx="109728" cy="841248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3425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E5A9E"/>
                </a:solidFill>
                <a:latin typeface="Calibri"/>
              </a:rPr>
              <a:t>M4 — Cytokines (IL-6 / IL-4 / IL-13)   </a:t>
            </a:r>
            <a:r>
              <a:rPr sz="1350">
                <a:solidFill>
                  <a:srgbClr val="223038"/>
                </a:solidFill>
              </a:rPr>
              <a:t>IL-6/STAT3 + IL-4/IL-13/STAT6 → fibroblast/ECM. The Th2 cytokine axis.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48072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48072"/>
            <a:ext cx="109728" cy="841248"/>
          </a:xfrm>
          <a:prstGeom prst="rect">
            <a:avLst/>
          </a:prstGeom>
          <a:solidFill>
            <a:srgbClr val="C0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66944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6A3A"/>
                </a:solidFill>
                <a:latin typeface="Calibri"/>
              </a:rPr>
              <a:t>M5 — B-cell &amp; autoreactivity   </a:t>
            </a:r>
            <a:r>
              <a:rPr sz="1350">
                <a:solidFill>
                  <a:srgbClr val="223038"/>
                </a:solidFill>
              </a:rPr>
              <a:t>BCR, CD19/20, BAFF–BCMA, plasma-cell TFs → autoantibodies. SSc autoreactivity.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+ a crosstalk layer wiring the modules (e.g. IL-6→SMAD3, IFN-I→fibroblast). M5 split from the old M4; validated (p=0.046 skin, p=1.3e-4 blood).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THE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One integrated, modular network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41984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Each quadrant is one module; nodes are species, edges are mechanistic reactions.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Hubs that emerge from network analysis match known SSc biology: TGF-β:receptor, SMAD3–SMAD4, ISG signature, PDGFR.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The same SBML file drives the figure, the analysis, and the online viewer.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DESIGN PRINCIPLE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molecules to disease phenotypes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The map is built around six phenotype “endpoints” — the biological and clinical outputs of the disease. Modelling rule: every disease-relevant entity must reach an endpoint in ≤ 6 steps (verified: 0 violations).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Myofibroblast</a:t>
            </a:r>
            <a:br/>
            <a:r>
              <a:t>activation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4872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ECM /</a:t>
            </a:r>
            <a:br/>
            <a:r>
              <a:t>collagen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834640"/>
            <a:ext cx="1664208" cy="1554480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Vascular</a:t>
            </a:r>
            <a:br/>
            <a:r>
              <a:t>remodelling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7336" y="2834640"/>
            <a:ext cx="1664208" cy="15544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Type-I IFN /</a:t>
            </a:r>
            <a:br/>
            <a:r>
              <a:t>ISG signature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834640"/>
            <a:ext cx="1664208" cy="1554480"/>
          </a:xfrm>
          <a:prstGeom prst="round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Auto-</a:t>
            </a:r>
            <a:br/>
            <a:r>
              <a:t>antibodies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2834640"/>
            <a:ext cx="1664208" cy="1554480"/>
          </a:xfrm>
          <a:prstGeom prst="round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Skin severity</a:t>
            </a:r>
            <a:br/>
            <a:r>
              <a:t>(mRSS)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4 canonical biological sinks + autoantibody production (SSc autoreactivity, M4) + skin severity (clinical readout).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turns a static drawing into a testable model: a perturbation anywhere has a traceable path to a clinical readout.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makes the scope explicit and reviewable — exactly what we want expert biologists to challenge.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RIGOUR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Every reaction is sourced and graded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Tiered citation policy (GO-aligned)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Each reaction carries a primary PubMed ID and an ECO evidence code — experimental evidence ranked above inference.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Provenance is tracked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Every edge records where it came from: Reactome import, hand curation, or literature mining — fully auditable.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No fabricated citations — ever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 built-in grounding gate rejects any claim without a real, verifiable source (a negative-control fixture proves it works).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~360 references mined &amp; auto-filled (title, authors, journal) via NCBI E-utils.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SSc-specific reactions curated from a systematic 77-paper worklist + co-author full-text PDFs.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MI2CAST-compliant annotation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PATIENT 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197 donors (121 SSc / 76 HC) across skin, lung and blood — all re-analysed from raw GEO files.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 accession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Skin cohorts (Gur, Tabib) give fibroblast-subset resolution — the actors M2/M3 model; ≈100k and 64k annotated cells.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Lung (SSc-ILD) and PBMC extend the map beyond skin. Every citation above was re-checked against PubMed.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↔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patient data is layered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 + cell-type annotation of each dataset from raw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96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185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185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301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differential expression (mixed-effects NB GLM, BH-FDR).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817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506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622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622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differentially-expressed genes to map species → coverage.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138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7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943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943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turns each patient into a 4-module activation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356616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91440" cy="141732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06824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of detectable map species observed in patient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160520"/>
            <a:ext cx="7315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74% · M5 94% — the curated biology is largely measurable.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Biological check: M1 / type-I IFN module significantly elevated in SSc skin (Gur p = 3.2×10⁻⁴; Tabib p = 0.011).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60 ready-to-load MINERVA overlays for interactive exploration.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NEW DIRECTION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Toward endotypes: distinct activation profiles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1732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The map converts each patient into a 4-module activation vector.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Real result: IFN activation is heterogeneous — 40/109 SSc skin donors are IFN-high, others are not (reproducible across Gur + Tabib).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Distinct module profiles → candidate,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Clinical promise: module-matched therapy — IFN-high → JAK/IFN axis; fibrosis-high → TGF-β/CTGF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 WORKFLOW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Bring your own patient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Have 3 patient clusters? Project them onto the map and read out what mechanistically separates them — same pipeline,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5 modules (M1–M5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cluster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28032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per cluster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828032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828032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APPLICATION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substrate for drug prioritisation</a:t>
            </a:r>
          </a:p>
        </p:txBody>
      </p:sp>
      <p:pic>
        <p:nvPicPr>
          <p:cNvPr id="6" name="Picture 5" descr="F3_druggabl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379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Network hubs cross-referenced with DGIdb drug–target data.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Recovers targets already in SSc trials — tocilizumab (IL-6), nintedanib, romilkimab (IL-13), pamrevlumab (CTGF/CCN2), bosentan (endothelin).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Drug table recalibrated against real SSc clinical-trial outcomes.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Shows the map can rank and rationalise repurposing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QUALITY CONTROL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Independent verification of every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143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interactions queued for expert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128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passed automated AI verification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wrong source PMIDs caught &amp; fixed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4231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8972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563624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fabricated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Flags any gene pair given opposite signs by different sources, for human arbitration.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AI reviewer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interaction checked against its deciding sentence + supporting/contrary abstracts — verdict: validate / revise / caution.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Citation-integrity sweep (this week)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Found 28 reactions whose cited PMID pointed to an unrelated paper (biology canonical, reference a data-entry slip — e.g. a TGF-β reaction cited to a rubella study). Every replacement PMID was re-verified against live PubMed before applying.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TODAY'S TOOL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 app to review the map, one interaction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 swipe deck for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Offline, self-contained web app — one card per interaction, accept / reject / annotate.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Everything you need to decide, on the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Regulator → target, mechanism, SSc relevance, the verbatim deciding sentence from the source article, and PubMed/DOI links.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Context before you judge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literature dossier lists candidate supporting and “possibly contrary” references; an in-browser module map shows the neighbourhood.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Advisory AI verdict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card shows the AI call + rationale — filter to triage, but the human reviewer always decides.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No install, no server — open one HTML file.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Decisions saved locally; export to CSV/JSON.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Re-includes even discarded edges, so you keep full control.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Demo right after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WHAT WE ASK OF YOU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things from expert biologists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1874519"/>
            <a:ext cx="868680" cy="86868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Validate the 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Do the 5 modules + 6 phenotype endpoints capture dcSSc skin fibrosis? What is missing or over-reaching?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1874519"/>
            <a:ext cx="868680" cy="86868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Curate the entities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Tier-1 SSc species: what to add, remove, or promote — with PMIDs where you have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7616" y="1874519"/>
            <a:ext cx="868680" cy="868680"/>
          </a:xfrm>
          <a:prstGeom prst="ellipse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Adjudicate interactions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Use the review app on the 143 interactions: confirm, reject, or flag for revision.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Where this is going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 open, citable SSc resource — and your review is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v1.0 release: GitHub + Zenodo DOI (citable).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Resource paper (npj Systems Biology &amp; Applications) — revision drafted.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Endotype stratification as the next translational step.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Expert sign-off on scope &amp; interactions is the last binding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2514600"/>
            <a:ext cx="4069080" cy="320040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889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Nathan Foulquier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LBAI · UMR 1227 Inserm · CHU de Brest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github.com/Nurtal/IDT_SSc_map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8B9E"/>
                </a:solidFill>
                <a:latin typeface="Calibri"/>
              </a:rPr>
              <a:t>Open the review app now for a live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