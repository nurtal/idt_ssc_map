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Building the SSc-MIM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2200" b="0" i="0">
                <a:solidFill>
                  <a:srgbClr val="CFDEE2"/>
                </a:solidFill>
                <a:latin typeface="Calibri"/>
              </a:rPr>
              <a:t>Construction approach, datasets, and the interaction-validation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8B9E"/>
                </a:solidFill>
                <a:latin typeface="Calibri"/>
              </a:rPr>
              <a:t>Technical companion to the SSc-MIM overview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Nathan Foulquier — LBAI, UMR 1227 Inserm · CHU de Brest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200" b="0" i="0">
                <a:solidFill>
                  <a:srgbClr val="9FB6BD"/>
                </a:solidFill>
                <a:latin typeface="Calibri"/>
              </a:rPr>
              <a:t>Detailed reference: docs/SSc_MIM_construction_and_validation.md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A73B8"/>
                </a:solidFill>
                <a:latin typeface="Calibri"/>
              </a:rPr>
              <a:t>PHILOSOPHY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Three governing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00584" cy="141732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2E8B9E"/>
                </a:solidFill>
                <a:latin typeface="Calibri"/>
              </a:rPr>
              <a:t>1.  Deterministic curation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Explicit rules (Mazein 2023 + Disease Maps conventions) so two curators produce the same map. HGNC names, fixed compartments, fixed reaction granularity.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27248"/>
            <a:ext cx="11064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127248"/>
            <a:ext cx="100584" cy="1417320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2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E26D5A"/>
                </a:solidFill>
                <a:latin typeface="Calibri"/>
              </a:rPr>
              <a:t>2.  Never written speculatively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No edge enters the curated map without a verbatim source quote that passes automated gates AND human ratification.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00016"/>
            <a:ext cx="11064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700016"/>
            <a:ext cx="100584" cy="1417320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3A73B8"/>
                </a:solidFill>
                <a:latin typeface="Calibri"/>
              </a:rPr>
              <a:t>3.  Topology is curated, not learned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Mechanisms come from the literature; patient omics ground, validate and read out the map — they never define its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8B9E"/>
                </a:solidFill>
                <a:latin typeface="Calibri"/>
              </a:rPr>
              <a:t>STANDARDS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Notation, format &amp; naming conventions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Notation &amp; format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CellDesigner v4.4 · SBGN Process Description glyphs.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SBML Level 2 Version 4 + CellDesigner annotations.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MI2CAST-compliant annotation on every reaction.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Identifiers (HGNC-anchored)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onsolas"/>
              </a:rPr>
              <a:t>gene/protein  → HGNC symbol  (TGFB1, SMAD3)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onsolas"/>
              </a:rPr>
              <a:t>proteoform    → symbol+state (SMAD3@S423)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onsolas"/>
              </a:rPr>
              <a:t>complex       → A:B:C  (SMAD2:SMAD3:SMAD4)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onsolas"/>
              </a:rPr>
              <a:t>phenotype     → phenotype_&lt;slug&gt;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554480"/>
            <a:ext cx="52578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554480"/>
            <a:ext cx="5257800" cy="82296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One reaction per ligand–receptor binding event.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One reaction per kinase–substrate pair (residues collapsed into a state-variable list).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Transcription as TF → mRNA(target), one per target.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Fixed compartment vocabulary (20): extracellular, ECM, plasma membrane, cytosol, nucleus, ER, endosome, mitochondrion, cell-type prefixes…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ARCHITECTURE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Modules, crosstalk &amp; phenotype sinks</a:t>
            </a:r>
          </a:p>
        </p:txBody>
      </p:sp>
      <p:pic>
        <p:nvPicPr>
          <p:cNvPr id="6" name="Picture 5" descr="F1_global_MIM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221168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46304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M1 Type-I IFN  ·  19 reactions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M2 TGF-β / fibrosis  ·  58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M3 EndoMT / vasculopathy  ·  27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M4 Cytokines IL-6/IL-4/IL-13  ·  11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M5 B-cell &amp; autoreactivity  ·  10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crosstalk  ·  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257800"/>
            <a:ext cx="91440" cy="960120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58384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C3A"/>
                </a:solidFill>
                <a:latin typeface="Calibri"/>
              </a:rPr>
              <a:t>Six phenotype endpoints (disease outputs): myofibroblast activation · ECM/collagen deposition · vascular remodelling · type-I IFN/ISG signature · autoantibody production (autoreactivity) · skin severity (mRSS).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Modelling rule: every entity reaches an endpoint in ≤ 6 steps — verified, 0 violations (make sink-check).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A73B8"/>
                </a:solidFill>
                <a:latin typeface="Calibri"/>
              </a:rPr>
              <a:t>PIPELINE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From literature to a released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298448" cy="1097280"/>
          </a:xfrm>
          <a:prstGeom prst="round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2606040"/>
            <a:ext cx="169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43753" y="2286000"/>
            <a:ext cx="1298448" cy="1097280"/>
          </a:xfrm>
          <a:prstGeom prst="round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Reactome</a:t>
            </a:r>
            <a:br/>
            <a:r>
              <a:t>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5625" y="2606040"/>
            <a:ext cx="169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8866" y="2286000"/>
            <a:ext cx="1298448" cy="1097280"/>
          </a:xfrm>
          <a:prstGeom prst="round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Harmonise</a:t>
            </a:r>
            <a:br/>
            <a:r>
              <a:t>&amp; dedup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738" y="2606040"/>
            <a:ext cx="169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3979" y="2286000"/>
            <a:ext cx="1298448" cy="1097280"/>
          </a:xfrm>
          <a:prstGeom prst="round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Integrate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5851" y="2606040"/>
            <a:ext cx="169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9092" y="2286000"/>
            <a:ext cx="1298448" cy="1097280"/>
          </a:xfrm>
          <a:prstGeom prst="round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SSc curation</a:t>
            </a:r>
            <a:br/>
            <a:r>
              <a:t>(gated)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0964" y="2606040"/>
            <a:ext cx="169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4205" y="2286000"/>
            <a:ext cx="1298448" cy="1097280"/>
          </a:xfrm>
          <a:prstGeom prst="round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Annotate</a:t>
            </a:r>
            <a:br/>
            <a:r>
              <a:t>PMID/ECO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6077" y="2606040"/>
            <a:ext cx="169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9318" y="2286000"/>
            <a:ext cx="1298448" cy="1097280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QC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1190" y="2606040"/>
            <a:ext cx="169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14431" y="2286000"/>
            <a:ext cx="1298448" cy="1097280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Release</a:t>
            </a:r>
            <a:br/>
            <a:r>
              <a:t>GitHub+Zenodo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Blue = backbone assembly  ·  coral = SSc-specific layer  ·  teal = QC &amp; release.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23038"/>
                </a:solidFill>
                <a:latin typeface="Calibri"/>
              </a:rPr>
              <a:t>Each stage is a scripted, reversible step (make targets) with linters and CI — re-running from raw inputs reproduces the map.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23038"/>
                </a:solidFill>
                <a:latin typeface="Calibri"/>
              </a:rPr>
              <a:t>The whole automated lane runs end-to-end with  make auto 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A73B8"/>
                </a:solidFill>
                <a:latin typeface="Calibri"/>
              </a:rPr>
              <a:t>STEP 1–4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Reactome backbone import &amp;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Import canonical pathway scaffolds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M1 type-I IFN · M2 TGF-β (pilot R-HSA-2173789) + PDGF · M3 NOTCH1 (R-HSA-1980143) · M4 IL-6.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Post-process &amp; harmonise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Decode + classify reaction types; rename entities to HGNC; de-duplicate species shared across modules.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Integrate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Merge harmonised module XMLs into one SBML map. Mine embedded PMIDs; auto-fill the bibliography via NCBI E-utils.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554480"/>
            <a:ext cx="52578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554480"/>
            <a:ext cx="5257800" cy="82296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23038"/>
                </a:solidFill>
                <a:latin typeface="Consolas"/>
              </a:rPr>
              <a:t>reactome_pilot.py      (pilot)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23038"/>
                </a:solidFill>
                <a:latin typeface="Consolas"/>
              </a:rPr>
              <a:t>post_process_reactome  (harmonise)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23038"/>
                </a:solidFill>
                <a:latin typeface="Consolas"/>
              </a:rPr>
              <a:t>harmonise_imports.py   (harmonise)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23038"/>
                </a:solidFill>
                <a:latin typeface="Consolas"/>
              </a:rPr>
              <a:t>integrate_modules.py   (integrate)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23038"/>
                </a:solidFill>
                <a:latin typeface="Consolas"/>
              </a:rPr>
              <a:t>extract_pmids_*.py     (pmids)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223038"/>
                </a:solidFill>
                <a:latin typeface="Consolas"/>
              </a:rPr>
              <a:t>bib_lookup.py          (bib-lookup)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50749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A82"/>
                </a:solidFill>
                <a:latin typeface="Calibri"/>
              </a:rPr>
              <a:t>Backbone = 159 reactions; gives canonical structure, but propagates curator-inference ECO by default.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STEP 5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SSc-specific curation layer — the novel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3038"/>
                </a:solidFill>
                <a:latin typeface="Calibri"/>
              </a:rPr>
              <a:t>133 hand-curated reactions Reactome cannot structurally hold (autoantibodies, SSc cell states, GWAS-function, clinical crosstalk). Sourced from a systematic 77-paper worklist (24 themes) + co-author full-text PDFs.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31720"/>
          <a:ext cx="6766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Provenance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26D5A"/>
                          </a:solidFill>
                          <a:latin typeface="Calibri"/>
                        </a:rPr>
                        <a:t>original-curation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40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hand-curated (human-original)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26D5A"/>
                          </a:solidFill>
                          <a:latin typeface="Calibri"/>
                        </a:rPr>
                        <a:t>fulltext-verified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27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AI-extracted, verbatim-grounded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26D5A"/>
                          </a:solidFill>
                          <a:latin typeface="Calibri"/>
                        </a:rPr>
                        <a:t>ai-discovery (gated)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48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via G0–G4 pipeline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26D5A"/>
                          </a:solidFill>
                          <a:latin typeface="Calibri"/>
                        </a:rPr>
                        <a:t>claude-reclassify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cell-state → conceptual bridge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26D5A"/>
                          </a:solidFill>
                          <a:latin typeface="Calibri"/>
                        </a:rPr>
                        <a:t>claude-lit-mine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mined, abstract-verified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43800" y="23317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M2  58   M3  27   M4  21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M1  19   crosstalk  8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Every AI-touched row is tagged, reversible (one TSV row), and carries its grounding quote in notes.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350" b="1" i="0">
                <a:solidFill>
                  <a:srgbClr val="E26D5A"/>
                </a:solidFill>
                <a:latin typeface="Calibri"/>
              </a:rPr>
              <a:t>126 / 133 carry a primary PMID.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F9E8C"/>
                </a:solidFill>
                <a:latin typeface="Calibri"/>
              </a:rPr>
              <a:t>EVIDENCE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Provenance &amp; graded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1">
                <a:solidFill>
                  <a:srgbClr val="223038"/>
                </a:solidFill>
                <a:latin typeface="Calibri"/>
              </a:rPr>
              <a:t>The honest denominator: separate the imported backbone from the genuinely SSc-specific layer.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"/>
                <a:gridCol w="1005840"/>
                <a:gridCol w="11887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Rxns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PMID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Exp. ECO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F9E8C"/>
                          </a:solidFill>
                          <a:latin typeface="Calibri"/>
                        </a:rPr>
                        <a:t>Reactome backbone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159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99%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F9E8C"/>
                          </a:solidFill>
                          <a:latin typeface="Calibri"/>
                        </a:rPr>
                        <a:t>SSc-specific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133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95%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majority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965960"/>
          <a:ext cx="4800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606040"/>
                <a:gridCol w="8229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ECO code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F9E8C"/>
                          </a:solidFill>
                          <a:latin typeface="Calibri"/>
                        </a:rPr>
                        <a:t>0000314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3038"/>
                          </a:solidFill>
                          <a:latin typeface="Calibri"/>
                        </a:rPr>
                        <a:t>direct assay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3038"/>
                          </a:solidFill>
                          <a:latin typeface="Consolas"/>
                        </a:rPr>
                        <a:t>73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F9E8C"/>
                          </a:solidFill>
                          <a:latin typeface="Calibri"/>
                        </a:rPr>
                        <a:t>0000033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3038"/>
                          </a:solidFill>
                          <a:latin typeface="Calibri"/>
                        </a:rPr>
                        <a:t>traceable author stmt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3038"/>
                          </a:solidFill>
                          <a:latin typeface="Consolas"/>
                        </a:rPr>
                        <a:t>27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F9E8C"/>
                          </a:solidFill>
                          <a:latin typeface="Calibri"/>
                        </a:rPr>
                        <a:t>0000270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3038"/>
                          </a:solidFill>
                          <a:latin typeface="Calibri"/>
                        </a:rPr>
                        <a:t>expression pattern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3038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F9E8C"/>
                          </a:solidFill>
                          <a:latin typeface="Calibri"/>
                        </a:rPr>
                        <a:t>0000305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3038"/>
                          </a:solidFill>
                          <a:latin typeface="Calibri"/>
                        </a:rPr>
                        <a:t>curator inference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3038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F9E8C"/>
                          </a:solidFill>
                          <a:latin typeface="Calibri"/>
                        </a:rPr>
                        <a:t>others (353/315)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3038"/>
                          </a:solidFill>
                          <a:latin typeface="Calibri"/>
                        </a:rPr>
                        <a:t>interaction / mutant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3038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122 confirmed · 6 phenotype_aggregation (definitional sinks) · 4 conceptual_bridge · 1 to_complete (POSTN, under expert review).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make evidence-lint fails CI if any SSc reaction is left untriaged — no undeclared inference debt.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VALIDATION (1/3)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Adding an interaction: the edge-discovery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1">
                <a:solidFill>
                  <a:srgbClr val="E26D5A"/>
                </a:solidFill>
                <a:latin typeface="Calibri"/>
              </a:rPr>
              <a:t>Governing rule: the curated map is never written speculatively.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956816"/>
            <a:ext cx="51206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Stage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Candidate edge in staging TSV — with a verbatim supporting sentence from the source paper.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" y="2468880"/>
            <a:ext cx="27432" cy="347471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816352"/>
            <a:ext cx="457200" cy="457200"/>
          </a:xfrm>
          <a:prstGeom prst="ellipse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761488"/>
            <a:ext cx="51206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Fetch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Cache source text (Europe PMC OA full text / abstract).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" y="3273552"/>
            <a:ext cx="27432" cy="347471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621024"/>
            <a:ext cx="457200" cy="457200"/>
          </a:xfrm>
          <a:prstGeom prst="ellipse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566160"/>
            <a:ext cx="51206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Gate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Run G0–G4 automated gates → validation_report.tsv.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" y="4078224"/>
            <a:ext cx="27432" cy="347471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425696"/>
            <a:ext cx="457200" cy="457200"/>
          </a:xfrm>
          <a:prstGeom prst="ellipse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4370832"/>
            <a:ext cx="51206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Ratify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A human sets decision = promote (default = held).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882896"/>
            <a:ext cx="27432" cy="347471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5230368"/>
            <a:ext cx="457200" cy="457200"/>
          </a:xfrm>
          <a:prstGeom prst="ellipse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5175504"/>
            <a:ext cx="51206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Promote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Only PASS + promote rows enter the map — tagged, reversible.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2011680"/>
            <a:ext cx="4846320" cy="384048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24028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DDE7EA"/>
                </a:solidFill>
                <a:latin typeface="Calibri"/>
              </a:rPr>
              <a:t>Candidates never touch the curated TSV until promoted.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DDE7EA"/>
                </a:solidFill>
                <a:latin typeface="Calibri"/>
              </a:rPr>
              <a:t>Quality over volume — 12 grounded edges beat 40 shaky ones.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DDE7EA"/>
                </a:solidFill>
                <a:latin typeface="Calibri"/>
              </a:rPr>
              <a:t>Disease-specific only — content Reactome cannot hold.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DDE7EA"/>
                </a:solidFill>
                <a:latin typeface="Calibri"/>
              </a:rPr>
              <a:t>One quote → one edge.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DDE7EA"/>
                </a:solidFill>
                <a:latin typeface="Calibri"/>
              </a:rPr>
              <a:t>Every promoted edge is one removable TSV row.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VALIDATION (2/3)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Five automated gates (G0–G4)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76656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On failure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26D5A"/>
                          </a:solidFill>
                          <a:latin typeface="Calibri"/>
                        </a:rPr>
                        <a:t>G0  schema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required fields present; type in controlled vocabulary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26D5A"/>
                          </a:solidFill>
                          <a:latin typeface="Calibri"/>
                        </a:rPr>
                        <a:t>G1  HGNC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every gene entity is an official HGNC symbol (HGNC REST)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REJECT (alias→FLAG)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26D5A"/>
                          </a:solidFill>
                          <a:latin typeface="Calibri"/>
                        </a:rPr>
                        <a:t>G2  grounding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supporting quote is a verbatim substring of the source text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REJECT — keystone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26D5A"/>
                          </a:solidFill>
                          <a:latin typeface="Calibri"/>
                        </a:rPr>
                        <a:t>G3  novelty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gene pair not already an SSc reaction; not a forward Reactome pair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REJECT (dup) / FLAG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26D5A"/>
                          </a:solidFill>
                          <a:latin typeface="Calibri"/>
                        </a:rPr>
                        <a:t>G4  evidence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numeric PMID present; corpus text available (SSc context)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617720"/>
            <a:ext cx="11064240" cy="1463040"/>
          </a:xfrm>
          <a:prstGeom prst="rect">
            <a:avLst/>
          </a:prstGeom>
          <a:solidFill>
            <a:srgbClr val="1C3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80" b="0" i="0">
                <a:solidFill>
                  <a:srgbClr val="DDE7EA"/>
                </a:solidFill>
                <a:latin typeface="Calibri"/>
              </a:rPr>
              <a:t>If the quote is not literally in the paper, the edge is rejected — the core defence against fabricated biology.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80" b="0" i="0">
                <a:solidFill>
                  <a:srgbClr val="DDE7EA"/>
                </a:solidFill>
                <a:latin typeface="Calibri"/>
              </a:rPr>
              <a:t>Self-test: a fabricated negative-control edge (cand_negctrl, FOXP3→COL1A1, invented quote + decoy PMID) must REJECT on every run; it is hidden from the reviewer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VALIDATION (3/3)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Layered QC beyond the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611880" cy="73152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73351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E8B9E"/>
                </a:solidFill>
                <a:latin typeface="Calibri"/>
              </a:rPr>
              <a:t>Structural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SBML L2V4 validation in CI · sink-connectivity (≤6 steps) · CellDesigner-loadability · MINERVA preflight.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508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508760"/>
            <a:ext cx="3611880" cy="73152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673351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F9E8C"/>
                </a:solidFill>
                <a:latin typeface="Calibri"/>
              </a:rPr>
              <a:t>Contradiction detector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Flags any gene pair given opposite polarities by different sources → human arbitration. 0 unresolved.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508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508760"/>
            <a:ext cx="3611880" cy="73152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673351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A73B8"/>
                </a:solidFill>
                <a:latin typeface="Calibri"/>
              </a:rPr>
              <a:t>AI verdict pass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Read each interaction's deciding quote + support/contrary abstracts → validate / revise / caution. Now 128 validate · 5 caution.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3611880" cy="73152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95935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E26D5A"/>
                </a:solidFill>
                <a:latin typeface="Calibri"/>
              </a:rPr>
              <a:t>Citation-integrity sweep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Caught 28 reactions citing an unrelated PMID; every replacement re-verified vs live PubMed. No PMID cited from memory.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794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794760"/>
            <a:ext cx="3611880" cy="73152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395935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7E5A9E"/>
                </a:solidFill>
                <a:latin typeface="Calibri"/>
              </a:rPr>
              <a:t>Reviewer app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Offline swipe-deck over 143 interactions: verbatim quote, dossier, module map, advisory verdict; decisions export to CSV/JSON.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3794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3794760"/>
            <a:ext cx="3611880" cy="7315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395935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Human ratification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Binding step: the expert/co-author adjudicates the biology. AI proposes &amp; self-gates; the human decides.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E5A9E"/>
                </a:solidFill>
                <a:latin typeface="Calibri"/>
              </a:rPr>
              <a:t>DATA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Four public single-cell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197 donors (121 SSc / 76 HC) — skin, lung, blood — re-analysed from raw GEO files. Citations verified against PubMed.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2120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Reference (verified)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Tissue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Donors (SSc/HC)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7E5A9E"/>
                          </a:solidFill>
                          <a:latin typeface="Calibri"/>
                        </a:rPr>
                        <a:t>GSE195452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Gur C et al. Cell 2022;185:1373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Skin (multiome)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onsolas"/>
                        </a:rPr>
                        <a:t>154  (97 / 57)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7E5A9E"/>
                          </a:solidFill>
                          <a:latin typeface="Calibri"/>
                        </a:rPr>
                        <a:t>GSE138669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Tabib T et al. Nat Commun 2021;12:4384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Skin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onsolas"/>
                        </a:rPr>
                        <a:t>22  (12 / 10)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7E5A9E"/>
                          </a:solidFill>
                          <a:latin typeface="Calibri"/>
                        </a:rPr>
                        <a:t>GSE128169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Morse C et al. Eur Respir J 2019;54:1802441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Lung (ILD)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onsolas"/>
                        </a:rPr>
                        <a:t>13  (8 / 5)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7E5A9E"/>
                          </a:solidFill>
                          <a:latin typeface="Calibri"/>
                        </a:rPr>
                        <a:t>GSE210395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GEO — no linked publication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PBMC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onsolas"/>
                        </a:rPr>
                        <a:t>8  (4 / 4)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Skin cohorts (≈100k + 64k annotated cells) give the fibroblast-subset resolution that M2/M3 model.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Lung (SSc-ILD) + PBMC extend the map beyond skin. Raw archives SHA-256-pinned in data/MIRROR.md (Zenodo mirror).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E5A9E"/>
                </a:solidFill>
                <a:latin typeface="Calibri"/>
              </a:rPr>
              <a:t>DATA → MAP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How the datasets are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084831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084831" cy="73152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618488"/>
            <a:ext cx="502920" cy="502920"/>
          </a:xfrm>
          <a:prstGeom prst="ellipse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86000"/>
            <a:ext cx="177393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Re-process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scanpy QC, Leiden clustering, cell-type annotation from raw 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3492" y="1417320"/>
            <a:ext cx="2084831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3492" y="1417320"/>
            <a:ext cx="2084831" cy="73152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58084" y="1618488"/>
            <a:ext cx="502920" cy="502920"/>
          </a:xfrm>
          <a:prstGeom prst="ellipse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8084" y="2286000"/>
            <a:ext cx="177393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Pseudobulk DEG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Per-donor pseudobulk; SSc-vs-HC mixed-effects NB GLM + BH-FDR (q=0.05).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344" y="1417320"/>
            <a:ext cx="2084831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8344" y="1417320"/>
            <a:ext cx="2084831" cy="73152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02936" y="1618488"/>
            <a:ext cx="502920" cy="502920"/>
          </a:xfrm>
          <a:prstGeom prst="ellipse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286000"/>
            <a:ext cx="177393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Map onto species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Match DE genes to map species → coverage.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83196" y="1417320"/>
            <a:ext cx="2084831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83196" y="1417320"/>
            <a:ext cx="2084831" cy="73152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47788" y="1618488"/>
            <a:ext cx="502920" cy="502920"/>
          </a:xfrm>
          <a:prstGeom prst="ellipse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7788" y="2286000"/>
            <a:ext cx="177393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Score per donor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AUCell → each patient = a 4-module activation vector.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8048" y="1417320"/>
            <a:ext cx="2084831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28048" y="1417320"/>
            <a:ext cx="2084831" cy="73152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0" y="1618488"/>
            <a:ext cx="502920" cy="502920"/>
          </a:xfrm>
          <a:prstGeom prst="ellipse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286000"/>
            <a:ext cx="177393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Overlay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60 MINERVA overlays colour the map by cluster/dataset.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91440" cy="1371600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151376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3F9E8C"/>
                </a:solidFill>
                <a:latin typeface="Consolas"/>
              </a:rPr>
              <a:t>81.3%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of detectable map species seen in patient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02336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80" b="0" i="0">
                <a:solidFill>
                  <a:srgbClr val="223038"/>
                </a:solidFill>
                <a:latin typeface="Calibri"/>
              </a:rPr>
              <a:t>Per-module coverage: M1 84% · M2 88% · M3 75% · M4 74% · M5 94%.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80" b="0" i="0">
                <a:solidFill>
                  <a:srgbClr val="223038"/>
                </a:solidFill>
                <a:latin typeface="Calibri"/>
              </a:rPr>
              <a:t>M1 / type-I IFN significantly up in SSc skin (Gur p=3.2e-4; Tabib p=0.011).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80" b="0" i="0">
                <a:solidFill>
                  <a:srgbClr val="223038"/>
                </a:solidFill>
                <a:latin typeface="Calibri"/>
              </a:rPr>
              <a:t>Cell-type labels validated with CellTypist (κ=0.92, ARI=0.70). Data grounds the map — it does not define its topology.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E5A9E"/>
                </a:solidFill>
                <a:latin typeface="Calibri"/>
              </a:rPr>
              <a:t>DATA METHOD (1/2)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Per-donor pseudobulk — the right unit of replication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1">
                <a:solidFill>
                  <a:srgbClr val="223038"/>
                </a:solidFill>
                <a:latin typeface="Calibri"/>
              </a:rPr>
              <a:t>Tens of thousands of cells, but only 4–13 patients per dataset. The biological question is about patients, not cells.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The problem: pseudoreplication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Cells from one patient are not independent (same genotype, biopsy, batch).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Testing per-cell treats them as thousands of samples → inflated power, many false positives (reviewer R2-M1).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The fix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Rebuild one bulk-like profile per patient → the unit of replication becomes the patient, the correct level for SSc-vs-HC.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554480"/>
            <a:ext cx="5257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554480"/>
            <a:ext cx="5257800" cy="82296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55648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group cells by (donor × cell_type)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row[gene] = Σ raw counts over cells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→ one pseudobulk count row per (donor, cell type).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2C3A"/>
                </a:solidFill>
                <a:latin typeface="Calibri"/>
              </a:rPr>
              <a:t>Then DEG on the pseudobulks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NB GLM (pydeseq2) ~ condition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+ Benjamini-Hochberg FDR (q=0.05)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Raw counts (not log) — the NB GLM models depth &amp; overdispersion itself.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Trade-off: fewer, more robust hits. Less cell-level granularity, but a valid, reproducible inference — and the same pseudobulks feed AUCell.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E5A9E"/>
                </a:solidFill>
                <a:latin typeface="Calibri"/>
              </a:rPr>
              <a:t>DATA METHOD (2/2)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AUCell — label-free module activation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1">
                <a:solidFill>
                  <a:srgbClr val="223038"/>
                </a:solidFill>
                <a:latin typeface="Calibri"/>
              </a:rPr>
              <a:t>“Are a module’s genes concentrated among this patient’s most highly-expressed genes?”  If yes → the module is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Why — no double-dipping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v1.0 weighted expression by the SSc-vs-HC sign, then tested SSc-vs-HC → circular (reviewer R2-M2).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AUCell scores each donor against the pre-specified module gene set (from the curated map), blind to the SSc/HC label.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Rank-based → robust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Depends only on the order of genes, not absolute values → insensitive to scale, depth, normalisation.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554480"/>
            <a:ext cx="5257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554480"/>
            <a:ext cx="5257800" cy="82296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55648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Rank all genes by expression (rank 1 = highest).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Walk the top T (top ~5%); recovery curve R(r) = # module genes with rank ≤ r.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AUC = Σ R(r),  normalised to [0,1]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High AUC → module genes cluster at the top → module active.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Output: a 4-module activation vector per patient (+ a Z-score for triangulation).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Feeds the SSc-vs-HC contrasts (M1 IFN p=3.2e-4 in skin) and the endotype workflow (per-cluster module fingerprints).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8B9E"/>
                </a:solidFill>
                <a:latin typeface="Calibri"/>
              </a:rPr>
              <a:t>REPRODUCIBILITY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Scripted, tested, containerised, citable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611880" cy="73152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73351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A73B8"/>
                </a:solidFill>
                <a:latin typeface="Calibri"/>
              </a:rPr>
              <a:t>Scripted pipeline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make auto runs the whole lane; make lint / validate run every content + SBML linter.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508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508760"/>
            <a:ext cx="3611880" cy="73152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673351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F9E8C"/>
                </a:solidFill>
                <a:latin typeface="Calibri"/>
              </a:rPr>
              <a:t>Tested + CI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pytest suite (no data needed); GitHub Actions: validate_sbml, lint, scripts-smoke, figures.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508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508760"/>
            <a:ext cx="3611880" cy="73152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673351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E8B9E"/>
                </a:solidFill>
                <a:latin typeface="Calibri"/>
              </a:rPr>
              <a:t>Containerised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Dockerfile + workflow pin the environment for end-to-end reproduction.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3611880" cy="73152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95935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7E5A9E"/>
                </a:solidFill>
                <a:latin typeface="Calibri"/>
              </a:rPr>
              <a:t>Provenance &amp; metadata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RO-Crate manifest, MIRIAM injection for BioModels, CITATION.cff + .zenodo.json.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794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794760"/>
            <a:ext cx="3611880" cy="73152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395935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E26D5A"/>
                </a:solidFill>
                <a:latin typeface="Calibri"/>
              </a:rPr>
              <a:t>Input-data mirror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data/MIRROR.md + .sha256 — SHA-256-pinned GEO archives (Zenodo mirror).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379476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3794760"/>
            <a:ext cx="3611880" cy="7315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395935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Release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GitHub + Zenodo DOI at git tag v1.0; make release pre-flights.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Construction, data &amp;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8B9E"/>
                </a:solidFill>
                <a:latin typeface="Calibri"/>
              </a:rPr>
              <a:t>In one sentence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literature-curated map, gated against fabrication, grounded in real patient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50" b="0" i="0">
                <a:solidFill>
                  <a:srgbClr val="DDE7EA"/>
                </a:solidFill>
                <a:latin typeface="Calibri"/>
              </a:rPr>
              <a:t>Backbone from Reactome → harmonised → integrated into one SBML map (568 sp / 308 rx / 20 comp).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50" b="0" i="0">
                <a:solidFill>
                  <a:srgbClr val="DDE7EA"/>
                </a:solidFill>
                <a:latin typeface="Calibri"/>
              </a:rPr>
              <a:t>133 SSc-specific reactions added only through G0–G4 gates + human ratification — no edge without a verbatim source.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50" b="0" i="0">
                <a:solidFill>
                  <a:srgbClr val="DDE7EA"/>
                </a:solidFill>
                <a:latin typeface="Calibri"/>
              </a:rPr>
              <a:t>Four single-cell datasets (197 donors) ground the map: 81.3% coverage, type-I IFN validated in SSc skin.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50" b="0" i="0">
                <a:solidFill>
                  <a:srgbClr val="DDE7EA"/>
                </a:solidFill>
                <a:latin typeface="Calibri"/>
              </a:rPr>
              <a:t>Fully scripted, tested, containerised and citable (Zenodo DOI, BioModels-ready).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142C3A"/>
                </a:solidFill>
                <a:latin typeface="Calibri"/>
              </a:rPr>
              <a:t>Detailed reference: docs/SSc_MIM_construction_and_validation.md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